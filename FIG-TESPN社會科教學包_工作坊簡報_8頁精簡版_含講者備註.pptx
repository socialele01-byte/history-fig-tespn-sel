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開場放慢。先請大家回想：上一次教228、霧社事件，孩子的眼神是真的被觸動，還是只是在抄筆記？〔停頓3秒〕今天要分享的，是怎麼讓孩子在歷史裡真的有感覺。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我們都熟這個兩難：進度趕，SEL聽起來好但又要多上一門課。〔停頓，等會心的笑〕提案很簡單——不是多開一門課，而是融進這堂課。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方法只有一個：FIG-TESPN。名字拗口，但就是八個問句，帶孩子一步步想。〔停頓，讓大家看八張卡片〕它跟社會課本來在做的事，幾乎一樣。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大家最關心：40分鐘跑得完嗎？〔停頓，肯定地點頭〕跑得完。關鍵在第三段——把想選擇、想後果交給小組，老師退一步當主持人。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為了讓你直接帶回去用，準備了三件教具。〔停頓，手指三張卡片〕鷹架負責思考、遊戲負責體驗、提問單負責討論，一條龍。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想分享的一頁。讓孩子當莫那魯道，選一條路，然後擲骰子。〔停頓〕有孩子選起義、骰出最壞結果，當場喊『不公平！』。〔停頓、放慢〕那一刻最珍貴——人生的決定本來就有控制不了的部分。我們教的不是選對，而是想清楚。負責任的決定，看的是過程，不是運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這套方法不會只待在社會課。〔停頓〕灰姑娘要不要去舞會、LINE群組有人被排擠——同一套問句都用得上。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最後留一句話。〔停頓，看全場〕我們無法保證孩子每個決定都有好結果，但能教他在想清楚之後，為自己的選擇負責。這就是帶得走的東西。謝謝大家。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560320"/>
            <a:ext cx="5486400" cy="5486400"/>
          </a:xfrm>
          <a:prstGeom prst="ellipse">
            <a:avLst/>
          </a:prstGeom>
          <a:solidFill>
            <a:srgbClr val="E25B4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5029200" cy="5029200"/>
          </a:xfrm>
          <a:prstGeom prst="ellipse">
            <a:avLst/>
          </a:prstGeom>
          <a:solidFill>
            <a:srgbClr val="F0A03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 × 社會科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站在抉擇的那一刻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把社會情緒學習，玩進一堂社會課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FIG-TESPN 融入社會科教學包　·　工作坊精簡版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新北市課程輔導團・社會領域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059936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59936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764024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4024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468112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68112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6172200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876288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7628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7580376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0376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8284464" y="5532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84464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熟悉的兩難，換個做法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85416"/>
            <a:ext cx="548640" cy="5486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232806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03704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我們熟悉的兩難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51560" y="3218688"/>
            <a:ext cx="164592" cy="164592"/>
          </a:xfrm>
          <a:prstGeom prst="ellipse">
            <a:avLst/>
          </a:prstGeom>
          <a:solidFill>
            <a:srgbClr val="E25B43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30358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高年級歷史分量重，進度壓力大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51560" y="4087368"/>
            <a:ext cx="164592" cy="164592"/>
          </a:xfrm>
          <a:prstGeom prst="ellipse">
            <a:avLst/>
          </a:prstGeom>
          <a:solidFill>
            <a:srgbClr val="F0A03B"/>
          </a:solidFill>
          <a:ln/>
        </p:spPr>
      </p:sp>
      <p:sp>
        <p:nvSpPr>
          <p:cNvPr id="11" name="Text 8"/>
          <p:cNvSpPr/>
          <p:nvPr/>
        </p:nvSpPr>
        <p:spPr>
          <a:xfrm>
            <a:off x="1417320" y="39044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228、霧社事件「教過，卻沒被真正感受」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051560" y="4956048"/>
            <a:ext cx="164592" cy="164592"/>
          </a:xfrm>
          <a:prstGeom prst="ellipse">
            <a:avLst/>
          </a:prstGeom>
          <a:solidFill>
            <a:srgbClr val="C9743E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47731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社會情緒學習常淪為「額外一門課」而失敗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63640" y="1874520"/>
            <a:ext cx="5285232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56248" y="2185416"/>
            <a:ext cx="548640" cy="5486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232806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203704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換個做法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629400" y="306324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核心主張：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不該是單獨的一門課，而要融入日常學科。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29400" y="40233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其實，SEL 五面向就是熟悉的「中心德目」：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29400" y="4480560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5FA463"/>
          </a:solidFill>
          <a:ln/>
        </p:spPr>
      </p:sp>
      <p:sp>
        <p:nvSpPr>
          <p:cNvPr id="21" name="Text 17"/>
          <p:cNvSpPr/>
          <p:nvPr/>
        </p:nvSpPr>
        <p:spPr>
          <a:xfrm>
            <a:off x="6629400" y="448056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毅力 → 自我管理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629400" y="4956048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3E8CB5"/>
          </a:solidFill>
          <a:ln/>
        </p:spPr>
      </p:sp>
      <p:sp>
        <p:nvSpPr>
          <p:cNvPr id="23" name="Text 19"/>
          <p:cNvSpPr/>
          <p:nvPr/>
        </p:nvSpPr>
        <p:spPr>
          <a:xfrm>
            <a:off x="6629400" y="495604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互助 → 人際關係技巧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629400" y="5431536"/>
            <a:ext cx="4553712" cy="384048"/>
          </a:xfrm>
          <a:prstGeom prst="roundRect">
            <a:avLst>
              <a:gd name="adj" fmla="val 50000"/>
            </a:avLst>
          </a:prstGeom>
          <a:solidFill>
            <a:srgbClr val="E25B43"/>
          </a:solidFill>
          <a:ln/>
        </p:spPr>
      </p:sp>
      <p:sp>
        <p:nvSpPr>
          <p:cNvPr id="25" name="Text 21"/>
          <p:cNvSpPr/>
          <p:nvPr/>
        </p:nvSpPr>
        <p:spPr>
          <a:xfrm>
            <a:off x="6629400" y="5431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 → 負責任的決定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一套可以帶走的思考工具：FIG-TESPN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｜ 覺察與定向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TESPN ｜ 歷程與行動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44475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情緒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4475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覺察感受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14223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14223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看清處境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08483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26771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39712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39712" y="26700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確認想要什麼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1444752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44752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想出多種選擇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38628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03220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0322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3543300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後果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3543300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預想每個結果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37176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01768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01768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5641848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641848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做出決定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35724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00316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00316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7740396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740396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規劃並行動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34272" y="3822192"/>
            <a:ext cx="2514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98864" y="40050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98864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9838944" y="40050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檢視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838944" y="44074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回看結果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544068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FF4E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0120" y="5440680"/>
            <a:ext cx="10268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每一步，都在練一種 SEL 能力：</a:t>
            </a:r>
            <a:pPr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自我覺察 → 社會覺察 → 自我管理 → 人際關係技巧 → 負責任的決定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課堂節奏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一節課怎麼跑（40 分鐘）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698480" y="640080"/>
            <a:ext cx="822960" cy="822960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2450" y="85405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65098" y="2468880"/>
            <a:ext cx="658368" cy="658368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6509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情境導入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影片帶入歷史現場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5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8015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05176" y="2468880"/>
            <a:ext cx="658368" cy="658368"/>
          </a:xfrm>
          <a:prstGeom prst="ellipse">
            <a:avLst/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0517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53310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個人初思 · FIG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58988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讀懂感受、問題、目標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553310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5′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20235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5253" y="2468880"/>
            <a:ext cx="658368" cy="658368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45253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4393387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分組探究 · TES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429963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想選擇 → 預想後果 → 抉擇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393387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12′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60313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85331" y="2468880"/>
            <a:ext cx="658368" cy="658368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685331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33465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全班分享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70041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各組報告抉擇與理由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233465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8C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000390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25408" y="2468880"/>
            <a:ext cx="658368" cy="658368"/>
          </a:xfrm>
          <a:prstGeom prst="ellipse">
            <a:avLst/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52540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073542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對照反思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110118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「歷史 ↔ 我」的負責任決定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073542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8′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9840468" y="2194560"/>
            <a:ext cx="1708404" cy="2743200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365486" y="2468880"/>
            <a:ext cx="658368" cy="658368"/>
          </a:xfrm>
          <a:prstGeom prst="ellipse">
            <a:avLst/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10365486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9913620" y="3273552"/>
            <a:ext cx="15621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統整收尾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9950196" y="3858768"/>
            <a:ext cx="148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連結現實議題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9913620" y="4526280"/>
            <a:ext cx="1562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2′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帶得走的工具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三件教具，一條龍上課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3372" y="2377440"/>
            <a:ext cx="1005840" cy="10058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6389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一張鷹架走遍每個歷史抉擇；內建四個台灣／中國史案例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63895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98264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672584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選一條路、擲出後果；體驗「有些情勢無法完全掌控」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56448" y="2057400"/>
            <a:ext cx="339242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49740" y="2377440"/>
            <a:ext cx="1005840" cy="100584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258" y="263895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5204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教具三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56448" y="388620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8430768" y="443484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每條路都有專屬追問，加上收尾統整一次到位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6400800" cy="64008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solidFill>
            <a:srgbClr val="3E8CB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課堂示範 · 最關鍵的一刻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示範：霧社事件 × 骰子抉擇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2E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學生扮演莫那魯道，選一條路、擲出情勢——歷史上他選了 C，遭強力鎮壓，卻成為反抗的象徵。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82880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忍耐配合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重視眼前安全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57784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和平陳情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重視不流血的改變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23160"/>
            <a:ext cx="3456432" cy="1691640"/>
          </a:xfrm>
          <a:prstGeom prst="roundRect">
            <a:avLst>
              <a:gd name="adj" fmla="val 6486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6760" y="283464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0" y="27432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武裝起義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329184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重視族人尊嚴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908792" cy="1325880"/>
          </a:xfrm>
          <a:prstGeom prst="roundRect">
            <a:avLst>
              <a:gd name="adj" fmla="val 9655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434840"/>
            <a:ext cx="10360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負責任的決定，看的是「思考的過程」，不是「運氣的好壞」。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不只社會科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一套工具，多處都能用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9092" y="2468880"/>
            <a:ext cx="914400" cy="91440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社會科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歷史人物的抉擇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25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秦始皇、蔣渭水、莫那魯道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98264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2468880"/>
            <a:ext cx="914400" cy="91440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706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國語繪本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398264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故事角色的選擇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26864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灰姑娘要不要去舞會？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56448" y="2103120"/>
            <a:ext cx="339242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95460" y="2468880"/>
            <a:ext cx="914400" cy="914400"/>
          </a:xfrm>
          <a:prstGeom prst="ellipse">
            <a:avLst/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3611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班級經營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156448" y="411480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真實的人際衝突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5048" y="457200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8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群組裡的孤立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94560"/>
            <a:ext cx="5486400" cy="5486400"/>
          </a:xfrm>
          <a:prstGeom prst="ellipse">
            <a:avLst/>
          </a:prstGeom>
          <a:solidFill>
            <a:srgbClr val="E25B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5486400" cy="5486400"/>
          </a:xfrm>
          <a:prstGeom prst="ellipse">
            <a:avLst/>
          </a:prstGeom>
          <a:solidFill>
            <a:srgbClr val="5FA46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0A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帶得走的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帶走的，是一套思考的方法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542032"/>
            <a:ext cx="777240" cy="777240"/>
          </a:xfrm>
          <a:prstGeom prst="ellipse">
            <a:avLst/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2744114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多案例思考鷹架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98264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542032"/>
            <a:ext cx="777240" cy="777240"/>
          </a:xfrm>
          <a:prstGeom prst="ellipse">
            <a:avLst/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666" y="2744114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86984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骰子抉擇遊戲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156448" y="2331720"/>
            <a:ext cx="3392424" cy="1234440"/>
          </a:xfrm>
          <a:prstGeom prst="roundRect">
            <a:avLst>
              <a:gd name="adj" fmla="val 8889"/>
            </a:avLst>
          </a:prstGeom>
          <a:solidFill>
            <a:srgbClr val="4A3729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542032"/>
            <a:ext cx="777240" cy="777240"/>
          </a:xfrm>
          <a:prstGeom prst="ellipse">
            <a:avLst/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850" y="274411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2331720"/>
            <a:ext cx="20665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教師引導提問單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10908792" cy="1051560"/>
          </a:xfrm>
          <a:prstGeom prst="roundRect">
            <a:avLst>
              <a:gd name="adj" fmla="val 12174"/>
            </a:avLst>
          </a:prstGeom>
          <a:solidFill>
            <a:srgbClr val="E25B4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914400" y="393192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負責任的決定，不是保證好結果——而是想清楚之後，願意為自己的選擇負責。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335584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25B4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35584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00" dirty="0"/>
          </a:p>
        </p:txBody>
      </p:sp>
      <p:sp>
        <p:nvSpPr>
          <p:cNvPr id="22" name="Shape 17"/>
          <p:cNvSpPr/>
          <p:nvPr/>
        </p:nvSpPr>
        <p:spPr>
          <a:xfrm>
            <a:off x="405993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0A03B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05993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500" dirty="0"/>
          </a:p>
        </p:txBody>
      </p:sp>
      <p:sp>
        <p:nvSpPr>
          <p:cNvPr id="24" name="Shape 19"/>
          <p:cNvSpPr/>
          <p:nvPr/>
        </p:nvSpPr>
        <p:spPr>
          <a:xfrm>
            <a:off x="476402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9A82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76402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500" dirty="0"/>
          </a:p>
        </p:txBody>
      </p:sp>
      <p:sp>
        <p:nvSpPr>
          <p:cNvPr id="26" name="Shape 21"/>
          <p:cNvSpPr/>
          <p:nvPr/>
        </p:nvSpPr>
        <p:spPr>
          <a:xfrm>
            <a:off x="5468112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5FA463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68112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00" dirty="0"/>
          </a:p>
        </p:txBody>
      </p:sp>
      <p:sp>
        <p:nvSpPr>
          <p:cNvPr id="28" name="Shape 23"/>
          <p:cNvSpPr/>
          <p:nvPr/>
        </p:nvSpPr>
        <p:spPr>
          <a:xfrm>
            <a:off x="617220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F9E8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17220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500" dirty="0"/>
          </a:p>
        </p:txBody>
      </p:sp>
      <p:sp>
        <p:nvSpPr>
          <p:cNvPr id="30" name="Shape 25"/>
          <p:cNvSpPr/>
          <p:nvPr/>
        </p:nvSpPr>
        <p:spPr>
          <a:xfrm>
            <a:off x="687628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E8CB5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6876288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00" dirty="0"/>
          </a:p>
        </p:txBody>
      </p:sp>
      <p:sp>
        <p:nvSpPr>
          <p:cNvPr id="32" name="Shape 27"/>
          <p:cNvSpPr/>
          <p:nvPr/>
        </p:nvSpPr>
        <p:spPr>
          <a:xfrm>
            <a:off x="7580376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356E9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580376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00" dirty="0"/>
          </a:p>
        </p:txBody>
      </p:sp>
      <p:sp>
        <p:nvSpPr>
          <p:cNvPr id="34" name="Shape 29"/>
          <p:cNvSpPr/>
          <p:nvPr/>
        </p:nvSpPr>
        <p:spPr>
          <a:xfrm>
            <a:off x="828446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C9743E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8284464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500" dirty="0"/>
          </a:p>
        </p:txBody>
      </p:sp>
      <p:sp>
        <p:nvSpPr>
          <p:cNvPr id="36" name="Text 3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　·　歡迎提問與交流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FIG-TESPN 融入社會科教學包（精簡版）</dc:title>
  <dc:subject>PptxGenJS Presentation</dc:subject>
  <dc:creator>新北市課程輔導團・社會領域</dc:creator>
  <cp:lastModifiedBy>新北市課程輔導團・社會領域</cp:lastModifiedBy>
  <cp:revision>1</cp:revision>
  <dcterms:created xsi:type="dcterms:W3CDTF">2026-06-24T07:44:16Z</dcterms:created>
  <dcterms:modified xsi:type="dcterms:W3CDTF">2026-06-24T07:44:16Z</dcterms:modified>
</cp:coreProperties>
</file>