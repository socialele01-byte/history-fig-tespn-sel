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精簡版：約15分鐘可講完。開場用一句教室真實感受切入。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全場最重要的一頁。停頓，讓老師體會：骰子＝不可控；我們教的是想清楚的過程。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560320"/>
            <a:ext cx="5486400" cy="5486400"/>
          </a:xfrm>
          <a:prstGeom prst="ellipse">
            <a:avLst/>
          </a:prstGeom>
          <a:solidFill>
            <a:srgbClr val="E25B4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206240"/>
            <a:ext cx="5029200" cy="5029200"/>
          </a:xfrm>
          <a:prstGeom prst="ellipse">
            <a:avLst/>
          </a:prstGeom>
          <a:solidFill>
            <a:srgbClr val="F0A03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社會情緒學習 × 社會科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站在抉擇的那一刻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B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把社會情緒學習，玩進一堂社會課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FIG-TESPN 融入社會科教學包　·　工作坊精簡版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9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新北市課程輔導團・社會領域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55848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4059936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059936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4764024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64024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5468112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68112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6172200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72200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19" name="Shape 17"/>
          <p:cNvSpPr/>
          <p:nvPr/>
        </p:nvSpPr>
        <p:spPr>
          <a:xfrm>
            <a:off x="6876288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76288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7580376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580376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23" name="Shape 21"/>
          <p:cNvSpPr/>
          <p:nvPr/>
        </p:nvSpPr>
        <p:spPr>
          <a:xfrm>
            <a:off x="8284464" y="55321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84464" y="5532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為什麼這樣做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熟悉的兩難，換個做法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886200"/>
          </a:xfrm>
          <a:prstGeom prst="roundRect">
            <a:avLst>
              <a:gd name="adj" fmla="val 2824"/>
            </a:avLst>
          </a:prstGeom>
          <a:solidFill>
            <a:srgbClr val="FFF4E2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85416"/>
            <a:ext cx="548640" cy="5486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" y="2328062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203704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我們熟悉的兩難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051560" y="3218688"/>
            <a:ext cx="164592" cy="164592"/>
          </a:xfrm>
          <a:prstGeom prst="ellipse">
            <a:avLst/>
          </a:prstGeom>
          <a:solidFill>
            <a:srgbClr val="E25B43"/>
          </a:solidFill>
          <a:ln/>
        </p:spPr>
      </p:sp>
      <p:sp>
        <p:nvSpPr>
          <p:cNvPr id="9" name="Text 6"/>
          <p:cNvSpPr/>
          <p:nvPr/>
        </p:nvSpPr>
        <p:spPr>
          <a:xfrm>
            <a:off x="1417320" y="303580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五年級歷史分量重，進度壓力大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1051560" y="4087368"/>
            <a:ext cx="164592" cy="164592"/>
          </a:xfrm>
          <a:prstGeom prst="ellipse">
            <a:avLst/>
          </a:prstGeom>
          <a:solidFill>
            <a:srgbClr val="F0A03B"/>
          </a:solidFill>
          <a:ln/>
        </p:spPr>
      </p:sp>
      <p:sp>
        <p:nvSpPr>
          <p:cNvPr id="11" name="Text 8"/>
          <p:cNvSpPr/>
          <p:nvPr/>
        </p:nvSpPr>
        <p:spPr>
          <a:xfrm>
            <a:off x="1417320" y="39044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228、霧社事件「教過，卻沒被真正感受」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051560" y="4956048"/>
            <a:ext cx="164592" cy="164592"/>
          </a:xfrm>
          <a:prstGeom prst="ellipse">
            <a:avLst/>
          </a:prstGeom>
          <a:solidFill>
            <a:srgbClr val="C9743E"/>
          </a:solidFill>
          <a:ln/>
        </p:spPr>
      </p:sp>
      <p:sp>
        <p:nvSpPr>
          <p:cNvPr id="13" name="Text 10"/>
          <p:cNvSpPr/>
          <p:nvPr/>
        </p:nvSpPr>
        <p:spPr>
          <a:xfrm>
            <a:off x="1417320" y="477316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社會情緒學習常淪為「額外一門課」而失敗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6263640" y="1874520"/>
            <a:ext cx="5285232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56248" y="2185416"/>
            <a:ext cx="548640" cy="54864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94" y="2328062"/>
            <a:ext cx="263347" cy="26334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23760" y="2203704"/>
            <a:ext cx="4187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換個做法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6629400" y="3063240"/>
            <a:ext cx="4553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核心主張：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 不該是單獨的一門課，而要融入日常學科。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629400" y="402336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其實，SEL 五面向就是熟悉的「中心德目」：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6629400" y="4480560"/>
            <a:ext cx="4553712" cy="384048"/>
          </a:xfrm>
          <a:prstGeom prst="roundRect">
            <a:avLst>
              <a:gd name="adj" fmla="val 50000"/>
            </a:avLst>
          </a:prstGeom>
          <a:solidFill>
            <a:srgbClr val="5FA463"/>
          </a:solidFill>
          <a:ln/>
        </p:spPr>
      </p:sp>
      <p:sp>
        <p:nvSpPr>
          <p:cNvPr id="21" name="Text 17"/>
          <p:cNvSpPr/>
          <p:nvPr/>
        </p:nvSpPr>
        <p:spPr>
          <a:xfrm>
            <a:off x="6629400" y="4480560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毅力 → 自我管理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629400" y="4956048"/>
            <a:ext cx="4553712" cy="384048"/>
          </a:xfrm>
          <a:prstGeom prst="roundRect">
            <a:avLst>
              <a:gd name="adj" fmla="val 50000"/>
            </a:avLst>
          </a:prstGeom>
          <a:solidFill>
            <a:srgbClr val="3E8CB5"/>
          </a:solidFill>
          <a:ln/>
        </p:spPr>
      </p:sp>
      <p:sp>
        <p:nvSpPr>
          <p:cNvPr id="23" name="Text 19"/>
          <p:cNvSpPr/>
          <p:nvPr/>
        </p:nvSpPr>
        <p:spPr>
          <a:xfrm>
            <a:off x="6629400" y="495604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互助 → 人際關係技巧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629400" y="5431536"/>
            <a:ext cx="4553712" cy="384048"/>
          </a:xfrm>
          <a:prstGeom prst="roundRect">
            <a:avLst>
              <a:gd name="adj" fmla="val 50000"/>
            </a:avLst>
          </a:prstGeom>
          <a:solidFill>
            <a:srgbClr val="E25B43"/>
          </a:solidFill>
          <a:ln/>
        </p:spPr>
      </p:sp>
      <p:sp>
        <p:nvSpPr>
          <p:cNvPr id="25" name="Text 21"/>
          <p:cNvSpPr/>
          <p:nvPr/>
        </p:nvSpPr>
        <p:spPr>
          <a:xfrm>
            <a:off x="6629400" y="5431536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 → 負責任的決定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核心工具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一套可以帶走的思考工具：FIG-TESPN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｜ 覺察與定向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TESPN ｜ 歷程與行動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8483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26771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2267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444752" y="22677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情緒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444752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覺察感受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208483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02152" y="226771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02152" y="2267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142232" y="22677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142232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看清處境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40" y="208483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99632" y="226771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99632" y="22677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839712" y="22677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839712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確認想要什麼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4672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1444752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444752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想出多種選擇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38628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903220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3220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3543300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後果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3543300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預想每個結果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37176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01768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001768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34" name="Text 32"/>
          <p:cNvSpPr/>
          <p:nvPr/>
        </p:nvSpPr>
        <p:spPr>
          <a:xfrm>
            <a:off x="5641848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5641848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做出決定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935724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00316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100316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7740396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計畫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7740396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規劃並行動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034272" y="3822192"/>
            <a:ext cx="25146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98864" y="40050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98864" y="4005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  <p:sp>
        <p:nvSpPr>
          <p:cNvPr id="44" name="Text 42"/>
          <p:cNvSpPr/>
          <p:nvPr/>
        </p:nvSpPr>
        <p:spPr>
          <a:xfrm>
            <a:off x="9838944" y="40050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檢視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838944" y="44074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回看結果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40080" y="5440680"/>
            <a:ext cx="10908792" cy="713232"/>
          </a:xfrm>
          <a:prstGeom prst="roundRect">
            <a:avLst>
              <a:gd name="adj" fmla="val 15385"/>
            </a:avLst>
          </a:prstGeom>
          <a:solidFill>
            <a:srgbClr val="FFF4E2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60120" y="5440680"/>
            <a:ext cx="102687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每一步，都在練一種 SEL 能力：</a:t>
            </a:r>
            <a:pPr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自我覺察 → 社會覺察 → 自我管理 → 人際關係技巧 → 負責任的決定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課堂節奏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一節課怎麼跑（40 分鐘）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698480" y="640080"/>
            <a:ext cx="822960" cy="822960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2450" y="854050"/>
            <a:ext cx="395021" cy="3950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65098" y="2468880"/>
            <a:ext cx="658368" cy="658368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16509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情境導入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影片帶入歷史現場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13232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25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5′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480158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005176" y="2468880"/>
            <a:ext cx="658368" cy="658368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005176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2553310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個人初思 · FIG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589886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讀懂感受、問題、目標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553310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5′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320235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845253" y="2468880"/>
            <a:ext cx="658368" cy="658368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845253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393387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分組探究 · TES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429963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想選擇 → 預想後果 → 抉擇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393387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A4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12′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160313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685331" y="2468880"/>
            <a:ext cx="658368" cy="658368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685331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6233465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全班分享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270041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各組報告抉擇與理由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233465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8C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8′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8000390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525408" y="2468880"/>
            <a:ext cx="658368" cy="658368"/>
          </a:xfrm>
          <a:prstGeom prst="ellipse">
            <a:avLst/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52540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33" name="Text 30"/>
          <p:cNvSpPr/>
          <p:nvPr/>
        </p:nvSpPr>
        <p:spPr>
          <a:xfrm>
            <a:off x="8073542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對照反思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110118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「歷史 ↔ 我」的負責任決定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073542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6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8′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840468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10365486" y="2468880"/>
            <a:ext cx="658368" cy="658368"/>
          </a:xfrm>
          <a:prstGeom prst="ellipse">
            <a:avLst/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10365486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9" name="Text 36"/>
          <p:cNvSpPr/>
          <p:nvPr/>
        </p:nvSpPr>
        <p:spPr>
          <a:xfrm>
            <a:off x="9913620" y="3273552"/>
            <a:ext cx="15621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統整收尾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9950196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連結現實議題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9913620" y="4526280"/>
            <a:ext cx="1562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2′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帶得走的工具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三件教具，一條龍上課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2424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33372" y="2377440"/>
            <a:ext cx="1005840" cy="100584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890" y="263895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520440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教具一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38862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多案例思考鷹架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914400" y="443484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一張鷹架走遍每個歷史抉擇；內建四個台灣／中國史案例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98264" y="2057400"/>
            <a:ext cx="3392424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91556" y="2377440"/>
            <a:ext cx="1005840" cy="10058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2638958"/>
            <a:ext cx="482803" cy="482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98264" y="3520440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教具二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398264" y="38862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骰子抉擇遊戲</a:t>
            </a:r>
            <a:endParaRPr lang="en-US" sz="1850" dirty="0"/>
          </a:p>
        </p:txBody>
      </p:sp>
      <p:sp>
        <p:nvSpPr>
          <p:cNvPr id="15" name="Text 11"/>
          <p:cNvSpPr/>
          <p:nvPr/>
        </p:nvSpPr>
        <p:spPr>
          <a:xfrm>
            <a:off x="4672584" y="443484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選一條路、擲出後果；體驗「有些情勢無法完全掌控」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56448" y="2057400"/>
            <a:ext cx="3392424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49740" y="2377440"/>
            <a:ext cx="1005840" cy="1005840"/>
          </a:xfrm>
          <a:prstGeom prst="ellipse">
            <a:avLst/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258" y="2638958"/>
            <a:ext cx="482803" cy="4828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3520440"/>
            <a:ext cx="3392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教具三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156448" y="388620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教師引導提問單</a:t>
            </a:r>
            <a:endParaRPr lang="en-US" sz="1850" dirty="0"/>
          </a:p>
        </p:txBody>
      </p:sp>
      <p:sp>
        <p:nvSpPr>
          <p:cNvPr id="21" name="Text 16"/>
          <p:cNvSpPr/>
          <p:nvPr/>
        </p:nvSpPr>
        <p:spPr>
          <a:xfrm>
            <a:off x="8430768" y="443484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每條路都有專屬追問，加上收尾統整一次到位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91840"/>
            <a:ext cx="6400800" cy="6400800"/>
          </a:xfrm>
          <a:prstGeom prst="ellipse">
            <a:avLst/>
          </a:prstGeom>
          <a:solidFill>
            <a:srgbClr val="E25B4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-2377440"/>
            <a:ext cx="5486400" cy="5486400"/>
          </a:xfrm>
          <a:prstGeom prst="ellipse">
            <a:avLst/>
          </a:prstGeom>
          <a:solidFill>
            <a:srgbClr val="3E8CB5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課堂示範 · 最關鍵的一刻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示範：霧社事件 × 骰子抉擇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2E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學生扮演莫那魯道，選一條路、擲出情勢——歷史上他選了 C，遭強力鎮壓，卻成為反抗的象徵。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3456432" cy="1691640"/>
          </a:xfrm>
          <a:prstGeom prst="roundRect">
            <a:avLst>
              <a:gd name="adj" fmla="val 6486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28346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834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828800" y="274320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忍耐配合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0" y="329184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重視眼前安全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423160"/>
            <a:ext cx="3456432" cy="1691640"/>
          </a:xfrm>
          <a:prstGeom prst="roundRect">
            <a:avLst>
              <a:gd name="adj" fmla="val 6486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7720" y="28346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7720" y="2834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577840" y="274320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和平陳情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77840" y="329184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重視不流血的改變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23160"/>
            <a:ext cx="3456432" cy="1691640"/>
          </a:xfrm>
          <a:prstGeom prst="roundRect">
            <a:avLst>
              <a:gd name="adj" fmla="val 6486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66760" y="2834640"/>
            <a:ext cx="868680" cy="86868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66760" y="2834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0" y="274320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武裝起義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326880" y="3291840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重視族人尊嚴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10908792" cy="1325880"/>
          </a:xfrm>
          <a:prstGeom prst="roundRect">
            <a:avLst>
              <a:gd name="adj" fmla="val 9655"/>
            </a:avLst>
          </a:prstGeom>
          <a:solidFill>
            <a:srgbClr val="E25B4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4434840"/>
            <a:ext cx="103601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負責任的決定，看的是「思考的過程」，不是「運氣的好壞」。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不只社會科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一套工具，多處都能用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9092" y="2468880"/>
            <a:ext cx="914400" cy="91440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6836" y="270662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社會科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歷史人物的抉擇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秦始皇、蔣渭水、莫那魯道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98264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37276" y="2468880"/>
            <a:ext cx="914400" cy="91440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70662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98264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國語繪本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98264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故事角色的選擇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26864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灰姑娘要不要去舞會？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156448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95460" y="2468880"/>
            <a:ext cx="914400" cy="914400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3204" y="270662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班級經營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156448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真實的人際衝突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85048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群組裡的孤立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194560"/>
            <a:ext cx="5486400" cy="5486400"/>
          </a:xfrm>
          <a:prstGeom prst="ellipse">
            <a:avLst/>
          </a:prstGeom>
          <a:solidFill>
            <a:srgbClr val="E25B4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023360"/>
            <a:ext cx="5486400" cy="5486400"/>
          </a:xfrm>
          <a:prstGeom prst="ellipse">
            <a:avLst/>
          </a:prstGeom>
          <a:solidFill>
            <a:srgbClr val="5FA463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帶得走的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帶走的，是一套思考的方法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542032"/>
            <a:ext cx="777240" cy="77724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82" y="2744114"/>
            <a:ext cx="373075" cy="3730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28800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多案例思考鷹架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4398264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42032"/>
            <a:ext cx="777240" cy="7772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666" y="2744114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86984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骰子抉擇遊戲</a:t>
            </a:r>
            <a:endParaRPr lang="en-US" sz="1650" dirty="0"/>
          </a:p>
        </p:txBody>
      </p:sp>
      <p:sp>
        <p:nvSpPr>
          <p:cNvPr id="14" name="Shape 10"/>
          <p:cNvSpPr/>
          <p:nvPr/>
        </p:nvSpPr>
        <p:spPr>
          <a:xfrm>
            <a:off x="8156448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30768" y="2542032"/>
            <a:ext cx="777240" cy="777240"/>
          </a:xfrm>
          <a:prstGeom prst="ellipse">
            <a:avLst/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850" y="2744114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45168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教師引導提問單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640080" y="3931920"/>
            <a:ext cx="10908792" cy="1051560"/>
          </a:xfrm>
          <a:prstGeom prst="roundRect">
            <a:avLst>
              <a:gd name="adj" fmla="val 12174"/>
            </a:avLst>
          </a:prstGeom>
          <a:solidFill>
            <a:srgbClr val="E25B4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914400" y="3931920"/>
            <a:ext cx="10360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負責任的決定，不是保證好結果——而是想清楚之後，願意為自己的選擇負責。</a:t>
            </a:r>
            <a:endParaRPr lang="en-US" sz="1900" dirty="0"/>
          </a:p>
        </p:txBody>
      </p:sp>
      <p:sp>
        <p:nvSpPr>
          <p:cNvPr id="20" name="Shape 15"/>
          <p:cNvSpPr/>
          <p:nvPr/>
        </p:nvSpPr>
        <p:spPr>
          <a:xfrm>
            <a:off x="335584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3355848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22" name="Shape 17"/>
          <p:cNvSpPr/>
          <p:nvPr/>
        </p:nvSpPr>
        <p:spPr>
          <a:xfrm>
            <a:off x="4059936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4059936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24" name="Shape 19"/>
          <p:cNvSpPr/>
          <p:nvPr/>
        </p:nvSpPr>
        <p:spPr>
          <a:xfrm>
            <a:off x="476402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4764024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26" name="Shape 21"/>
          <p:cNvSpPr/>
          <p:nvPr/>
        </p:nvSpPr>
        <p:spPr>
          <a:xfrm>
            <a:off x="5468112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5468112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28" name="Shape 23"/>
          <p:cNvSpPr/>
          <p:nvPr/>
        </p:nvSpPr>
        <p:spPr>
          <a:xfrm>
            <a:off x="617220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617220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30" name="Shape 25"/>
          <p:cNvSpPr/>
          <p:nvPr/>
        </p:nvSpPr>
        <p:spPr>
          <a:xfrm>
            <a:off x="687628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6876288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32" name="Shape 27"/>
          <p:cNvSpPr/>
          <p:nvPr/>
        </p:nvSpPr>
        <p:spPr>
          <a:xfrm>
            <a:off x="7580376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7580376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34" name="Shape 29"/>
          <p:cNvSpPr/>
          <p:nvPr/>
        </p:nvSpPr>
        <p:spPr>
          <a:xfrm>
            <a:off x="828446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5" name="Text 30"/>
          <p:cNvSpPr/>
          <p:nvPr/>
        </p:nvSpPr>
        <p:spPr>
          <a:xfrm>
            <a:off x="8284464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  <p:sp>
        <p:nvSpPr>
          <p:cNvPr id="36" name="Text 31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　·　歡迎提問與交流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FIG-TESPN 融入社會科教學包（精簡版）</dc:title>
  <dc:subject>PptxGenJS Presentation</dc:subject>
  <dc:creator>新北市課程輔導團・社會領域</dc:creator>
  <cp:lastModifiedBy>新北市課程輔導團・社會領域</cp:lastModifiedBy>
  <cp:revision>1</cp:revision>
  <dcterms:created xsi:type="dcterms:W3CDTF">2026-06-24T07:44:16Z</dcterms:created>
  <dcterms:modified xsi:type="dcterms:W3CDTF">2026-06-24T07:44:16Z</dcterms:modified>
</cp:coreProperties>
</file>