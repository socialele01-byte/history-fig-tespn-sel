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精簡版：約15分鐘可講完。開場用一句教室真實感受切入。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全場最重要的一頁。停頓，讓老師體會：骰子＝不可控；我們教的是想清楚的過程。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A2A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-2560320"/>
            <a:ext cx="5486400" cy="5486400"/>
          </a:xfrm>
          <a:prstGeom prst="ellipse">
            <a:avLst/>
          </a:prstGeom>
          <a:solidFill>
            <a:srgbClr val="E25B43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4206240"/>
            <a:ext cx="5029200" cy="5029200"/>
          </a:xfrm>
          <a:prstGeom prst="ellipse">
            <a:avLst/>
          </a:prstGeom>
          <a:solidFill>
            <a:srgbClr val="F0A03B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280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F0A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社會情緒學習 × 社會科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10972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站在抉擇的那一刻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640080" y="28803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4B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把社會情緒學習，玩進一堂社會課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37033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9D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FIG-TESPN 融入社會科教學包　·　工作坊精簡版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41148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79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新北市課程輔導團・社會領域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355848" y="553212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E25B43"/>
          </a:solidFill>
          <a:ln/>
          <a:effectLst>
            <a:outerShdw sx="100000" sy="100000" kx="0" ky="0" algn="bl" rotWithShape="0" blurRad="63500" dist="25400" dir="5400000">
              <a:srgbClr val="000000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355848" y="5532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</a:t>
            </a:r>
            <a:endParaRPr lang="en-US" sz="2500" dirty="0"/>
          </a:p>
        </p:txBody>
      </p:sp>
      <p:sp>
        <p:nvSpPr>
          <p:cNvPr id="11" name="Shape 9"/>
          <p:cNvSpPr/>
          <p:nvPr/>
        </p:nvSpPr>
        <p:spPr>
          <a:xfrm>
            <a:off x="4059936" y="553212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F0A03B"/>
          </a:solidFill>
          <a:ln/>
          <a:effectLst>
            <a:outerShdw sx="100000" sy="100000" kx="0" ky="0" algn="bl" rotWithShape="0" blurRad="63500" dist="25400" dir="5400000">
              <a:srgbClr val="000000">
                <a:alpha val="1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059936" y="5532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2500" dirty="0"/>
          </a:p>
        </p:txBody>
      </p:sp>
      <p:sp>
        <p:nvSpPr>
          <p:cNvPr id="13" name="Shape 11"/>
          <p:cNvSpPr/>
          <p:nvPr/>
        </p:nvSpPr>
        <p:spPr>
          <a:xfrm>
            <a:off x="4764024" y="553212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D9A82E"/>
          </a:solidFill>
          <a:ln/>
          <a:effectLst>
            <a:outerShdw sx="100000" sy="100000" kx="0" ky="0" algn="bl" rotWithShape="0" blurRad="63500" dist="25400" dir="5400000">
              <a:srgbClr val="000000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64024" y="5532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</a:t>
            </a:r>
            <a:endParaRPr lang="en-US" sz="2500" dirty="0"/>
          </a:p>
        </p:txBody>
      </p:sp>
      <p:sp>
        <p:nvSpPr>
          <p:cNvPr id="15" name="Shape 13"/>
          <p:cNvSpPr/>
          <p:nvPr/>
        </p:nvSpPr>
        <p:spPr>
          <a:xfrm>
            <a:off x="5468112" y="553212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5FA463"/>
          </a:solidFill>
          <a:ln/>
          <a:effectLst>
            <a:outerShdw sx="100000" sy="100000" kx="0" ky="0" algn="bl" rotWithShape="0" blurRad="63500" dist="25400" dir="5400000">
              <a:srgbClr val="000000">
                <a:alpha val="1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68112" y="5532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endParaRPr lang="en-US" sz="2500" dirty="0"/>
          </a:p>
        </p:txBody>
      </p:sp>
      <p:sp>
        <p:nvSpPr>
          <p:cNvPr id="17" name="Shape 15"/>
          <p:cNvSpPr/>
          <p:nvPr/>
        </p:nvSpPr>
        <p:spPr>
          <a:xfrm>
            <a:off x="6172200" y="553212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3F9E8E"/>
          </a:solidFill>
          <a:ln/>
          <a:effectLst>
            <a:outerShdw sx="100000" sy="100000" kx="0" ky="0" algn="bl" rotWithShape="0" blurRad="63500" dist="25400" dir="5400000">
              <a:srgbClr val="000000">
                <a:alpha val="16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172200" y="5532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</a:t>
            </a:r>
            <a:endParaRPr lang="en-US" sz="2500" dirty="0"/>
          </a:p>
        </p:txBody>
      </p:sp>
      <p:sp>
        <p:nvSpPr>
          <p:cNvPr id="19" name="Shape 17"/>
          <p:cNvSpPr/>
          <p:nvPr/>
        </p:nvSpPr>
        <p:spPr>
          <a:xfrm>
            <a:off x="6876288" y="553212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3E8CB5"/>
          </a:solidFill>
          <a:ln/>
          <a:effectLst>
            <a:outerShdw sx="100000" sy="100000" kx="0" ky="0" algn="bl" rotWithShape="0" blurRad="63500" dist="25400" dir="5400000">
              <a:srgbClr val="000000">
                <a:alpha val="16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876288" y="5532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2500" dirty="0"/>
          </a:p>
        </p:txBody>
      </p:sp>
      <p:sp>
        <p:nvSpPr>
          <p:cNvPr id="21" name="Shape 19"/>
          <p:cNvSpPr/>
          <p:nvPr/>
        </p:nvSpPr>
        <p:spPr>
          <a:xfrm>
            <a:off x="7580376" y="553212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356E9E"/>
          </a:solidFill>
          <a:ln/>
          <a:effectLst>
            <a:outerShdw sx="100000" sy="100000" kx="0" ky="0" algn="bl" rotWithShape="0" blurRad="63500" dist="25400" dir="5400000">
              <a:srgbClr val="000000">
                <a:alpha val="16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580376" y="5532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2500" dirty="0"/>
          </a:p>
        </p:txBody>
      </p:sp>
      <p:sp>
        <p:nvSpPr>
          <p:cNvPr id="23" name="Shape 21"/>
          <p:cNvSpPr/>
          <p:nvPr/>
        </p:nvSpPr>
        <p:spPr>
          <a:xfrm>
            <a:off x="8284464" y="553212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C9743E"/>
          </a:solidFill>
          <a:ln/>
          <a:effectLst>
            <a:outerShdw sx="100000" sy="100000" kx="0" ky="0" algn="bl" rotWithShape="0" blurRad="63500" dist="25400" dir="5400000">
              <a:srgbClr val="000000">
                <a:alpha val="16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284464" y="5532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</a:t>
            </a:r>
            <a:endParaRPr lang="en-US" sz="2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C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E25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為什麼這樣做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熟悉的兩難，換個做法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257800" cy="3886200"/>
          </a:xfrm>
          <a:prstGeom prst="roundRect">
            <a:avLst>
              <a:gd name="adj" fmla="val 2824"/>
            </a:avLst>
          </a:prstGeom>
          <a:solidFill>
            <a:srgbClr val="FFF4E2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32688" y="2185416"/>
            <a:ext cx="548640" cy="548640"/>
          </a:xfrm>
          <a:prstGeom prst="ellipse">
            <a:avLst/>
          </a:prstGeom>
          <a:solidFill>
            <a:srgbClr val="E25B43"/>
          </a:solidFill>
          <a:ln/>
          <a:effectLst>
            <a:outerShdw sx="100000" sy="100000" kx="0" ky="0" algn="bl" rotWithShape="0" blurRad="63500" dist="25400" dir="5400000">
              <a:srgbClr val="000000">
                <a:alpha val="16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5334" y="2328062"/>
            <a:ext cx="263347" cy="2633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2203704"/>
            <a:ext cx="4160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我們熟悉的兩難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1051560" y="3218688"/>
            <a:ext cx="164592" cy="164592"/>
          </a:xfrm>
          <a:prstGeom prst="ellipse">
            <a:avLst/>
          </a:prstGeom>
          <a:solidFill>
            <a:srgbClr val="E25B43"/>
          </a:solidFill>
          <a:ln/>
        </p:spPr>
      </p:sp>
      <p:sp>
        <p:nvSpPr>
          <p:cNvPr id="9" name="Text 6"/>
          <p:cNvSpPr/>
          <p:nvPr/>
        </p:nvSpPr>
        <p:spPr>
          <a:xfrm>
            <a:off x="1417320" y="3035808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高年級歷史分量重，進度壓力大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1051560" y="4087368"/>
            <a:ext cx="164592" cy="164592"/>
          </a:xfrm>
          <a:prstGeom prst="ellipse">
            <a:avLst/>
          </a:prstGeom>
          <a:solidFill>
            <a:srgbClr val="F0A03B"/>
          </a:solidFill>
          <a:ln/>
        </p:spPr>
      </p:sp>
      <p:sp>
        <p:nvSpPr>
          <p:cNvPr id="11" name="Text 8"/>
          <p:cNvSpPr/>
          <p:nvPr/>
        </p:nvSpPr>
        <p:spPr>
          <a:xfrm>
            <a:off x="1417320" y="3904488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228、霧社事件「教過，卻沒被真正感受」</a:t>
            </a:r>
            <a:endParaRPr lang="en-US" sz="1550" dirty="0"/>
          </a:p>
        </p:txBody>
      </p:sp>
      <p:sp>
        <p:nvSpPr>
          <p:cNvPr id="12" name="Shape 9"/>
          <p:cNvSpPr/>
          <p:nvPr/>
        </p:nvSpPr>
        <p:spPr>
          <a:xfrm>
            <a:off x="1051560" y="4956048"/>
            <a:ext cx="164592" cy="164592"/>
          </a:xfrm>
          <a:prstGeom prst="ellipse">
            <a:avLst/>
          </a:prstGeom>
          <a:solidFill>
            <a:srgbClr val="C9743E"/>
          </a:solidFill>
          <a:ln/>
        </p:spPr>
      </p:sp>
      <p:sp>
        <p:nvSpPr>
          <p:cNvPr id="13" name="Text 10"/>
          <p:cNvSpPr/>
          <p:nvPr/>
        </p:nvSpPr>
        <p:spPr>
          <a:xfrm>
            <a:off x="1417320" y="4773168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社會情緒學習常淪為「額外一門課」而失敗</a:t>
            </a:r>
            <a:endParaRPr lang="en-US" sz="1550" dirty="0"/>
          </a:p>
        </p:txBody>
      </p:sp>
      <p:sp>
        <p:nvSpPr>
          <p:cNvPr id="14" name="Shape 11"/>
          <p:cNvSpPr/>
          <p:nvPr/>
        </p:nvSpPr>
        <p:spPr>
          <a:xfrm>
            <a:off x="6263640" y="1874520"/>
            <a:ext cx="5285232" cy="3886200"/>
          </a:xfrm>
          <a:prstGeom prst="roundRect">
            <a:avLst>
              <a:gd name="adj" fmla="val 28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556248" y="2185416"/>
            <a:ext cx="548640" cy="548640"/>
          </a:xfrm>
          <a:prstGeom prst="ellipse">
            <a:avLst/>
          </a:prstGeom>
          <a:solidFill>
            <a:srgbClr val="5FA463"/>
          </a:solidFill>
          <a:ln/>
          <a:effectLst>
            <a:outerShdw sx="100000" sy="100000" kx="0" ky="0" algn="bl" rotWithShape="0" blurRad="63500" dist="25400" dir="5400000">
              <a:srgbClr val="000000">
                <a:alpha val="16000"/>
              </a:srgbClr>
            </a:outerShdw>
          </a:effectLst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8894" y="2328062"/>
            <a:ext cx="263347" cy="263347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223760" y="2203704"/>
            <a:ext cx="41879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換個做法</a:t>
            </a:r>
            <a:endParaRPr lang="en-US" sz="1900" dirty="0"/>
          </a:p>
        </p:txBody>
      </p:sp>
      <p:sp>
        <p:nvSpPr>
          <p:cNvPr id="18" name="Text 14"/>
          <p:cNvSpPr/>
          <p:nvPr/>
        </p:nvSpPr>
        <p:spPr>
          <a:xfrm>
            <a:off x="6629400" y="3063240"/>
            <a:ext cx="45537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E25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核心主張：</a:t>
            </a:r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 不該是單獨的一門課，而要融入日常學科。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6629400" y="4023360"/>
            <a:ext cx="4553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67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其實，SEL 五面向就是熟悉的「中心德目」：</a:t>
            </a:r>
            <a:endParaRPr lang="en-US" sz="1350" dirty="0"/>
          </a:p>
        </p:txBody>
      </p:sp>
      <p:sp>
        <p:nvSpPr>
          <p:cNvPr id="20" name="Shape 16"/>
          <p:cNvSpPr/>
          <p:nvPr/>
        </p:nvSpPr>
        <p:spPr>
          <a:xfrm>
            <a:off x="6629400" y="4480560"/>
            <a:ext cx="4553712" cy="384048"/>
          </a:xfrm>
          <a:prstGeom prst="roundRect">
            <a:avLst>
              <a:gd name="adj" fmla="val 50000"/>
            </a:avLst>
          </a:prstGeom>
          <a:solidFill>
            <a:srgbClr val="5FA463"/>
          </a:solidFill>
          <a:ln/>
        </p:spPr>
      </p:sp>
      <p:sp>
        <p:nvSpPr>
          <p:cNvPr id="21" name="Text 17"/>
          <p:cNvSpPr/>
          <p:nvPr/>
        </p:nvSpPr>
        <p:spPr>
          <a:xfrm>
            <a:off x="6629400" y="4480560"/>
            <a:ext cx="4553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毅力 → 自我管理</a:t>
            </a:r>
            <a:endParaRPr lang="en-US" sz="1350" dirty="0"/>
          </a:p>
        </p:txBody>
      </p:sp>
      <p:sp>
        <p:nvSpPr>
          <p:cNvPr id="22" name="Shape 18"/>
          <p:cNvSpPr/>
          <p:nvPr/>
        </p:nvSpPr>
        <p:spPr>
          <a:xfrm>
            <a:off x="6629400" y="4956048"/>
            <a:ext cx="4553712" cy="384048"/>
          </a:xfrm>
          <a:prstGeom prst="roundRect">
            <a:avLst>
              <a:gd name="adj" fmla="val 50000"/>
            </a:avLst>
          </a:prstGeom>
          <a:solidFill>
            <a:srgbClr val="3E8CB5"/>
          </a:solidFill>
          <a:ln/>
        </p:spPr>
      </p:sp>
      <p:sp>
        <p:nvSpPr>
          <p:cNvPr id="23" name="Text 19"/>
          <p:cNvSpPr/>
          <p:nvPr/>
        </p:nvSpPr>
        <p:spPr>
          <a:xfrm>
            <a:off x="6629400" y="4956048"/>
            <a:ext cx="4553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互助 → 人際關係技巧</a:t>
            </a:r>
            <a:endParaRPr lang="en-US" sz="1350" dirty="0"/>
          </a:p>
        </p:txBody>
      </p:sp>
      <p:sp>
        <p:nvSpPr>
          <p:cNvPr id="24" name="Shape 20"/>
          <p:cNvSpPr/>
          <p:nvPr/>
        </p:nvSpPr>
        <p:spPr>
          <a:xfrm>
            <a:off x="6629400" y="5431536"/>
            <a:ext cx="4553712" cy="384048"/>
          </a:xfrm>
          <a:prstGeom prst="roundRect">
            <a:avLst>
              <a:gd name="adj" fmla="val 50000"/>
            </a:avLst>
          </a:prstGeom>
          <a:solidFill>
            <a:srgbClr val="E25B43"/>
          </a:solidFill>
          <a:ln/>
        </p:spPr>
      </p:sp>
      <p:sp>
        <p:nvSpPr>
          <p:cNvPr id="25" name="Text 21"/>
          <p:cNvSpPr/>
          <p:nvPr/>
        </p:nvSpPr>
        <p:spPr>
          <a:xfrm>
            <a:off x="6629400" y="5431536"/>
            <a:ext cx="4553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負責 → 負責任的決定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C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E25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核心工具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一套可以帶走的思考工具：FIG-TESPN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25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｜ 覺察與定向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3429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F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TESPN ｜ 歷程與行動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084832"/>
            <a:ext cx="251460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04672" y="2267712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E25B43"/>
          </a:solidFill>
          <a:ln/>
          <a:effectLst>
            <a:outerShdw sx="100000" sy="100000" kx="0" ky="0" algn="bl" rotWithShape="0" blurRad="63500" dist="25400" dir="5400000">
              <a:srgbClr val="000000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04672" y="22677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1444752" y="2267712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情緒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1444752" y="2670048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67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覺察感受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337560" y="2084832"/>
            <a:ext cx="251460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502152" y="2267712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F0A03B"/>
          </a:solidFill>
          <a:ln/>
          <a:effectLst>
            <a:outerShdw sx="100000" sy="100000" kx="0" ky="0" algn="bl" rotWithShape="0" blurRad="63500" dist="25400" dir="5400000">
              <a:srgbClr val="000000">
                <a:alpha val="1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502152" y="22677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2500" dirty="0"/>
          </a:p>
        </p:txBody>
      </p:sp>
      <p:sp>
        <p:nvSpPr>
          <p:cNvPr id="14" name="Text 12"/>
          <p:cNvSpPr/>
          <p:nvPr/>
        </p:nvSpPr>
        <p:spPr>
          <a:xfrm>
            <a:off x="4142232" y="2267712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問題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4142232" y="2670048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67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看清處境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035040" y="2084832"/>
            <a:ext cx="251460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99632" y="2267712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D9A82E"/>
          </a:solidFill>
          <a:ln/>
          <a:effectLst>
            <a:outerShdw sx="100000" sy="100000" kx="0" ky="0" algn="bl" rotWithShape="0" blurRad="63500" dist="25400" dir="5400000">
              <a:srgbClr val="000000">
                <a:alpha val="16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199632" y="22677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</a:t>
            </a:r>
            <a:endParaRPr lang="en-US" sz="2500" dirty="0"/>
          </a:p>
        </p:txBody>
      </p:sp>
      <p:sp>
        <p:nvSpPr>
          <p:cNvPr id="19" name="Text 17"/>
          <p:cNvSpPr/>
          <p:nvPr/>
        </p:nvSpPr>
        <p:spPr>
          <a:xfrm>
            <a:off x="6839712" y="2267712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目標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6839712" y="2670048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67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確認想要什麼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" y="3822192"/>
            <a:ext cx="251460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04672" y="4005072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5FA463"/>
          </a:solidFill>
          <a:ln/>
          <a:effectLst>
            <a:outerShdw sx="100000" sy="100000" kx="0" ky="0" algn="bl" rotWithShape="0" blurRad="63500" dist="25400" dir="5400000">
              <a:srgbClr val="000000">
                <a:alpha val="16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04672" y="40050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endParaRPr lang="en-US" sz="2500" dirty="0"/>
          </a:p>
        </p:txBody>
      </p:sp>
      <p:sp>
        <p:nvSpPr>
          <p:cNvPr id="24" name="Text 22"/>
          <p:cNvSpPr/>
          <p:nvPr/>
        </p:nvSpPr>
        <p:spPr>
          <a:xfrm>
            <a:off x="1444752" y="4005072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方法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1444752" y="4407408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67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想出多種選擇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738628" y="3822192"/>
            <a:ext cx="251460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903220" y="4005072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3F9E8E"/>
          </a:solidFill>
          <a:ln/>
          <a:effectLst>
            <a:outerShdw sx="100000" sy="100000" kx="0" ky="0" algn="bl" rotWithShape="0" blurRad="63500" dist="25400" dir="5400000">
              <a:srgbClr val="000000">
                <a:alpha val="16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2903220" y="40050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</a:t>
            </a:r>
            <a:endParaRPr lang="en-US" sz="2500" dirty="0"/>
          </a:p>
        </p:txBody>
      </p:sp>
      <p:sp>
        <p:nvSpPr>
          <p:cNvPr id="29" name="Text 27"/>
          <p:cNvSpPr/>
          <p:nvPr/>
        </p:nvSpPr>
        <p:spPr>
          <a:xfrm>
            <a:off x="3543300" y="4005072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後果</a:t>
            </a:r>
            <a:endParaRPr lang="en-US" sz="1650" dirty="0"/>
          </a:p>
        </p:txBody>
      </p:sp>
      <p:sp>
        <p:nvSpPr>
          <p:cNvPr id="30" name="Text 28"/>
          <p:cNvSpPr/>
          <p:nvPr/>
        </p:nvSpPr>
        <p:spPr>
          <a:xfrm>
            <a:off x="3543300" y="4407408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67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預想每個結果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837176" y="3822192"/>
            <a:ext cx="251460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001768" y="4005072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3E8CB5"/>
          </a:solidFill>
          <a:ln/>
          <a:effectLst>
            <a:outerShdw sx="100000" sy="100000" kx="0" ky="0" algn="bl" rotWithShape="0" blurRad="63500" dist="25400" dir="5400000">
              <a:srgbClr val="000000">
                <a:alpha val="16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001768" y="40050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2500" dirty="0"/>
          </a:p>
        </p:txBody>
      </p:sp>
      <p:sp>
        <p:nvSpPr>
          <p:cNvPr id="34" name="Text 32"/>
          <p:cNvSpPr/>
          <p:nvPr/>
        </p:nvSpPr>
        <p:spPr>
          <a:xfrm>
            <a:off x="5641848" y="4005072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選擇</a:t>
            </a:r>
            <a:endParaRPr lang="en-US" sz="1650" dirty="0"/>
          </a:p>
        </p:txBody>
      </p:sp>
      <p:sp>
        <p:nvSpPr>
          <p:cNvPr id="35" name="Text 33"/>
          <p:cNvSpPr/>
          <p:nvPr/>
        </p:nvSpPr>
        <p:spPr>
          <a:xfrm>
            <a:off x="5641848" y="4407408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67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做出決定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935724" y="3822192"/>
            <a:ext cx="251460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7100316" y="4005072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356E9E"/>
          </a:solidFill>
          <a:ln/>
          <a:effectLst>
            <a:outerShdw sx="100000" sy="100000" kx="0" ky="0" algn="bl" rotWithShape="0" blurRad="63500" dist="25400" dir="5400000">
              <a:srgbClr val="000000">
                <a:alpha val="16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7100316" y="40050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2500" dirty="0"/>
          </a:p>
        </p:txBody>
      </p:sp>
      <p:sp>
        <p:nvSpPr>
          <p:cNvPr id="39" name="Text 37"/>
          <p:cNvSpPr/>
          <p:nvPr/>
        </p:nvSpPr>
        <p:spPr>
          <a:xfrm>
            <a:off x="7740396" y="4005072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計畫</a:t>
            </a:r>
            <a:endParaRPr lang="en-US" sz="1650" dirty="0"/>
          </a:p>
        </p:txBody>
      </p:sp>
      <p:sp>
        <p:nvSpPr>
          <p:cNvPr id="40" name="Text 38"/>
          <p:cNvSpPr/>
          <p:nvPr/>
        </p:nvSpPr>
        <p:spPr>
          <a:xfrm>
            <a:off x="7740396" y="4407408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67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規劃並行動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9034272" y="3822192"/>
            <a:ext cx="251460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9198864" y="4005072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C9743E"/>
          </a:solidFill>
          <a:ln/>
          <a:effectLst>
            <a:outerShdw sx="100000" sy="100000" kx="0" ky="0" algn="bl" rotWithShape="0" blurRad="63500" dist="25400" dir="5400000">
              <a:srgbClr val="000000">
                <a:alpha val="16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9198864" y="40050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</a:t>
            </a:r>
            <a:endParaRPr lang="en-US" sz="2500" dirty="0"/>
          </a:p>
        </p:txBody>
      </p:sp>
      <p:sp>
        <p:nvSpPr>
          <p:cNvPr id="44" name="Text 42"/>
          <p:cNvSpPr/>
          <p:nvPr/>
        </p:nvSpPr>
        <p:spPr>
          <a:xfrm>
            <a:off x="9838944" y="4005072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檢視</a:t>
            </a:r>
            <a:endParaRPr lang="en-US" sz="1650" dirty="0"/>
          </a:p>
        </p:txBody>
      </p:sp>
      <p:sp>
        <p:nvSpPr>
          <p:cNvPr id="45" name="Text 43"/>
          <p:cNvSpPr/>
          <p:nvPr/>
        </p:nvSpPr>
        <p:spPr>
          <a:xfrm>
            <a:off x="9838944" y="4407408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67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回看結果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640080" y="5440680"/>
            <a:ext cx="10908792" cy="713232"/>
          </a:xfrm>
          <a:prstGeom prst="roundRect">
            <a:avLst>
              <a:gd name="adj" fmla="val 15385"/>
            </a:avLst>
          </a:prstGeom>
          <a:solidFill>
            <a:srgbClr val="FFF4E2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960120" y="5440680"/>
            <a:ext cx="102687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每一步，都在練一種 SEL 能力：</a:t>
            </a:r>
            <a:pPr indent="0" marL="0">
              <a:buNone/>
            </a:pPr>
            <a:r>
              <a:rPr lang="en-US" sz="1400" dirty="0">
                <a:solidFill>
                  <a:srgbClr val="867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自我覺察 → 社會覺察 → 自我管理 → 人際關係技巧 → 負責任的決定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C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E25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課堂節奏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一節課怎麼跑（40 分鐘）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10698480" y="640080"/>
            <a:ext cx="822960" cy="822960"/>
          </a:xfrm>
          <a:prstGeom prst="ellipse">
            <a:avLst/>
          </a:prstGeom>
          <a:solidFill>
            <a:srgbClr val="F0A03B"/>
          </a:solidFill>
          <a:ln/>
          <a:effectLst>
            <a:outerShdw sx="100000" sy="100000" kx="0" ky="0" algn="bl" rotWithShape="0" blurRad="63500" dist="25400" dir="5400000">
              <a:srgbClr val="000000">
                <a:alpha val="16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12450" y="854050"/>
            <a:ext cx="395021" cy="395021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2194560"/>
            <a:ext cx="1708404" cy="2743200"/>
          </a:xfrm>
          <a:prstGeom prst="roundRect">
            <a:avLst>
              <a:gd name="adj" fmla="val 642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165098" y="2468880"/>
            <a:ext cx="658368" cy="658368"/>
          </a:xfrm>
          <a:prstGeom prst="ellipse">
            <a:avLst/>
          </a:prstGeom>
          <a:solidFill>
            <a:srgbClr val="E25B43"/>
          </a:solidFill>
          <a:ln/>
          <a:effectLst>
            <a:outerShdw sx="100000" sy="100000" kx="0" ky="0" algn="bl" rotWithShape="0" blurRad="63500" dist="25400" dir="5400000">
              <a:srgbClr val="000000">
                <a:alpha val="16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1165098" y="246888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713232" y="3273552"/>
            <a:ext cx="15621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情境導入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49808" y="3858768"/>
            <a:ext cx="14889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67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影片帶入歷史現場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713232" y="4526280"/>
            <a:ext cx="15621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25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5′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2480158" y="2194560"/>
            <a:ext cx="1708404" cy="2743200"/>
          </a:xfrm>
          <a:prstGeom prst="roundRect">
            <a:avLst>
              <a:gd name="adj" fmla="val 642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005176" y="2468880"/>
            <a:ext cx="658368" cy="658368"/>
          </a:xfrm>
          <a:prstGeom prst="ellipse">
            <a:avLst/>
          </a:prstGeom>
          <a:solidFill>
            <a:srgbClr val="F0A03B"/>
          </a:solidFill>
          <a:ln/>
          <a:effectLst>
            <a:outerShdw sx="100000" sy="100000" kx="0" ky="0" algn="bl" rotWithShape="0" blurRad="63500" dist="25400" dir="5400000">
              <a:srgbClr val="000000">
                <a:alpha val="16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3005176" y="246888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2553310" y="3273552"/>
            <a:ext cx="15621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個人初思 · FIG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2589886" y="3858768"/>
            <a:ext cx="14889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67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讀懂感受、問題、目標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2553310" y="4526280"/>
            <a:ext cx="15621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0A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5′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4320235" y="2194560"/>
            <a:ext cx="1708404" cy="2743200"/>
          </a:xfrm>
          <a:prstGeom prst="roundRect">
            <a:avLst>
              <a:gd name="adj" fmla="val 642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845253" y="2468880"/>
            <a:ext cx="658368" cy="658368"/>
          </a:xfrm>
          <a:prstGeom prst="ellipse">
            <a:avLst/>
          </a:prstGeom>
          <a:solidFill>
            <a:srgbClr val="5FA463"/>
          </a:solidFill>
          <a:ln/>
          <a:effectLst>
            <a:outerShdw sx="100000" sy="100000" kx="0" ky="0" algn="bl" rotWithShape="0" blurRad="63500" dist="25400" dir="5400000">
              <a:srgbClr val="000000">
                <a:alpha val="16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4845253" y="246888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21" name="Text 18"/>
          <p:cNvSpPr/>
          <p:nvPr/>
        </p:nvSpPr>
        <p:spPr>
          <a:xfrm>
            <a:off x="4393387" y="3273552"/>
            <a:ext cx="15621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分組探究 · TES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4429963" y="3858768"/>
            <a:ext cx="14889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67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想選擇 → 預想後果 → 抉擇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4393387" y="4526280"/>
            <a:ext cx="15621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FA4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12′</a:t>
            </a:r>
            <a:endParaRPr lang="en-US" sz="1800" dirty="0"/>
          </a:p>
        </p:txBody>
      </p:sp>
      <p:sp>
        <p:nvSpPr>
          <p:cNvPr id="24" name="Shape 21"/>
          <p:cNvSpPr/>
          <p:nvPr/>
        </p:nvSpPr>
        <p:spPr>
          <a:xfrm>
            <a:off x="6160313" y="2194560"/>
            <a:ext cx="1708404" cy="2743200"/>
          </a:xfrm>
          <a:prstGeom prst="roundRect">
            <a:avLst>
              <a:gd name="adj" fmla="val 642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6685331" y="2468880"/>
            <a:ext cx="658368" cy="658368"/>
          </a:xfrm>
          <a:prstGeom prst="ellipse">
            <a:avLst/>
          </a:prstGeom>
          <a:solidFill>
            <a:srgbClr val="3E8CB5"/>
          </a:solidFill>
          <a:ln/>
          <a:effectLst>
            <a:outerShdw sx="100000" sy="100000" kx="0" ky="0" algn="bl" rotWithShape="0" blurRad="63500" dist="25400" dir="5400000">
              <a:srgbClr val="000000">
                <a:alpha val="16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6685331" y="246888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27" name="Text 24"/>
          <p:cNvSpPr/>
          <p:nvPr/>
        </p:nvSpPr>
        <p:spPr>
          <a:xfrm>
            <a:off x="6233465" y="3273552"/>
            <a:ext cx="15621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全班分享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6270041" y="3858768"/>
            <a:ext cx="14889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67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各組報告抉擇與理由</a:t>
            </a:r>
            <a:endParaRPr lang="en-US" sz="1150" dirty="0"/>
          </a:p>
        </p:txBody>
      </p:sp>
      <p:sp>
        <p:nvSpPr>
          <p:cNvPr id="29" name="Text 26"/>
          <p:cNvSpPr/>
          <p:nvPr/>
        </p:nvSpPr>
        <p:spPr>
          <a:xfrm>
            <a:off x="6233465" y="4526280"/>
            <a:ext cx="15621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E8CB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8′</a:t>
            </a:r>
            <a:endParaRPr lang="en-US" sz="1800" dirty="0"/>
          </a:p>
        </p:txBody>
      </p:sp>
      <p:sp>
        <p:nvSpPr>
          <p:cNvPr id="30" name="Shape 27"/>
          <p:cNvSpPr/>
          <p:nvPr/>
        </p:nvSpPr>
        <p:spPr>
          <a:xfrm>
            <a:off x="8000390" y="2194560"/>
            <a:ext cx="1708404" cy="2743200"/>
          </a:xfrm>
          <a:prstGeom prst="roundRect">
            <a:avLst>
              <a:gd name="adj" fmla="val 642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8525408" y="2468880"/>
            <a:ext cx="658368" cy="658368"/>
          </a:xfrm>
          <a:prstGeom prst="ellipse">
            <a:avLst/>
          </a:prstGeom>
          <a:solidFill>
            <a:srgbClr val="356E9E"/>
          </a:solidFill>
          <a:ln/>
          <a:effectLst>
            <a:outerShdw sx="100000" sy="100000" kx="0" ky="0" algn="bl" rotWithShape="0" blurRad="63500" dist="25400" dir="5400000">
              <a:srgbClr val="000000">
                <a:alpha val="16000"/>
              </a:srgbClr>
            </a:outerShdw>
          </a:effectLst>
        </p:spPr>
      </p:sp>
      <p:sp>
        <p:nvSpPr>
          <p:cNvPr id="32" name="Text 29"/>
          <p:cNvSpPr/>
          <p:nvPr/>
        </p:nvSpPr>
        <p:spPr>
          <a:xfrm>
            <a:off x="8525408" y="246888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600" dirty="0"/>
          </a:p>
        </p:txBody>
      </p:sp>
      <p:sp>
        <p:nvSpPr>
          <p:cNvPr id="33" name="Text 30"/>
          <p:cNvSpPr/>
          <p:nvPr/>
        </p:nvSpPr>
        <p:spPr>
          <a:xfrm>
            <a:off x="8073542" y="3273552"/>
            <a:ext cx="15621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對照反思</a:t>
            </a:r>
            <a:endParaRPr lang="en-US" sz="1400" dirty="0"/>
          </a:p>
        </p:txBody>
      </p:sp>
      <p:sp>
        <p:nvSpPr>
          <p:cNvPr id="34" name="Text 31"/>
          <p:cNvSpPr/>
          <p:nvPr/>
        </p:nvSpPr>
        <p:spPr>
          <a:xfrm>
            <a:off x="8110118" y="3858768"/>
            <a:ext cx="14889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67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「歷史 ↔ 我」的負責任決定</a:t>
            </a:r>
            <a:endParaRPr lang="en-US" sz="1150" dirty="0"/>
          </a:p>
        </p:txBody>
      </p:sp>
      <p:sp>
        <p:nvSpPr>
          <p:cNvPr id="35" name="Text 32"/>
          <p:cNvSpPr/>
          <p:nvPr/>
        </p:nvSpPr>
        <p:spPr>
          <a:xfrm>
            <a:off x="8073542" y="4526280"/>
            <a:ext cx="15621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56E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8′</a:t>
            </a:r>
            <a:endParaRPr lang="en-US" sz="1800" dirty="0"/>
          </a:p>
        </p:txBody>
      </p:sp>
      <p:sp>
        <p:nvSpPr>
          <p:cNvPr id="36" name="Shape 33"/>
          <p:cNvSpPr/>
          <p:nvPr/>
        </p:nvSpPr>
        <p:spPr>
          <a:xfrm>
            <a:off x="9840468" y="2194560"/>
            <a:ext cx="1708404" cy="2743200"/>
          </a:xfrm>
          <a:prstGeom prst="roundRect">
            <a:avLst>
              <a:gd name="adj" fmla="val 642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37" name="Shape 34"/>
          <p:cNvSpPr/>
          <p:nvPr/>
        </p:nvSpPr>
        <p:spPr>
          <a:xfrm>
            <a:off x="10365486" y="2468880"/>
            <a:ext cx="658368" cy="658368"/>
          </a:xfrm>
          <a:prstGeom prst="ellipse">
            <a:avLst/>
          </a:prstGeom>
          <a:solidFill>
            <a:srgbClr val="C9743E"/>
          </a:solidFill>
          <a:ln/>
          <a:effectLst>
            <a:outerShdw sx="100000" sy="100000" kx="0" ky="0" algn="bl" rotWithShape="0" blurRad="63500" dist="25400" dir="5400000">
              <a:srgbClr val="000000">
                <a:alpha val="16000"/>
              </a:srgbClr>
            </a:outerShdw>
          </a:effectLst>
        </p:spPr>
      </p:sp>
      <p:sp>
        <p:nvSpPr>
          <p:cNvPr id="38" name="Text 35"/>
          <p:cNvSpPr/>
          <p:nvPr/>
        </p:nvSpPr>
        <p:spPr>
          <a:xfrm>
            <a:off x="10365486" y="246888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600" dirty="0"/>
          </a:p>
        </p:txBody>
      </p:sp>
      <p:sp>
        <p:nvSpPr>
          <p:cNvPr id="39" name="Text 36"/>
          <p:cNvSpPr/>
          <p:nvPr/>
        </p:nvSpPr>
        <p:spPr>
          <a:xfrm>
            <a:off x="9913620" y="3273552"/>
            <a:ext cx="15621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統整收尾</a:t>
            </a:r>
            <a:endParaRPr lang="en-US" sz="1400" dirty="0"/>
          </a:p>
        </p:txBody>
      </p:sp>
      <p:sp>
        <p:nvSpPr>
          <p:cNvPr id="40" name="Text 37"/>
          <p:cNvSpPr/>
          <p:nvPr/>
        </p:nvSpPr>
        <p:spPr>
          <a:xfrm>
            <a:off x="9950196" y="3858768"/>
            <a:ext cx="14889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67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連結現實議題</a:t>
            </a:r>
            <a:endParaRPr lang="en-US" sz="1150" dirty="0"/>
          </a:p>
        </p:txBody>
      </p:sp>
      <p:sp>
        <p:nvSpPr>
          <p:cNvPr id="41" name="Text 38"/>
          <p:cNvSpPr/>
          <p:nvPr/>
        </p:nvSpPr>
        <p:spPr>
          <a:xfrm>
            <a:off x="9913620" y="4526280"/>
            <a:ext cx="15621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7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2′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C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E25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帶得走的工具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三件教具，一條龍上課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40080" y="2057400"/>
            <a:ext cx="3392424" cy="338328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33372" y="2377440"/>
            <a:ext cx="1005840" cy="1005840"/>
          </a:xfrm>
          <a:prstGeom prst="ellipse">
            <a:avLst/>
          </a:prstGeom>
          <a:solidFill>
            <a:srgbClr val="5FA463"/>
          </a:solidFill>
          <a:ln/>
          <a:effectLst>
            <a:outerShdw sx="100000" sy="100000" kx="0" ky="0" algn="bl" rotWithShape="0" blurRad="63500" dist="25400" dir="5400000">
              <a:srgbClr val="000000">
                <a:alpha val="16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94890" y="2638958"/>
            <a:ext cx="482803" cy="48280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3520440"/>
            <a:ext cx="3392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FA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教具一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40080" y="3886200"/>
            <a:ext cx="3392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50" b="1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多案例思考鷹架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914400" y="4434840"/>
            <a:ext cx="28437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867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一張鷹架走遍每個歷史抉擇；內建四個台灣／中國史案例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398264" y="2057400"/>
            <a:ext cx="3392424" cy="338328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591556" y="2377440"/>
            <a:ext cx="1005840" cy="1005840"/>
          </a:xfrm>
          <a:prstGeom prst="ellipse">
            <a:avLst/>
          </a:prstGeom>
          <a:solidFill>
            <a:srgbClr val="E25B43"/>
          </a:solidFill>
          <a:ln/>
          <a:effectLst>
            <a:outerShdw sx="100000" sy="100000" kx="0" ky="0" algn="bl" rotWithShape="0" blurRad="63500" dist="25400" dir="5400000">
              <a:srgbClr val="000000">
                <a:alpha val="16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3074" y="2638958"/>
            <a:ext cx="482803" cy="48280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398264" y="3520440"/>
            <a:ext cx="3392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25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教具二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4398264" y="3886200"/>
            <a:ext cx="3392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50" b="1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骰子抉擇遊戲</a:t>
            </a:r>
            <a:endParaRPr lang="en-US" sz="1850" dirty="0"/>
          </a:p>
        </p:txBody>
      </p:sp>
      <p:sp>
        <p:nvSpPr>
          <p:cNvPr id="15" name="Text 11"/>
          <p:cNvSpPr/>
          <p:nvPr/>
        </p:nvSpPr>
        <p:spPr>
          <a:xfrm>
            <a:off x="4672584" y="4434840"/>
            <a:ext cx="28437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867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選一條路、擲出後果；體驗「有些情勢無法完全掌控」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8156448" y="2057400"/>
            <a:ext cx="3392424" cy="338328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9349740" y="2377440"/>
            <a:ext cx="1005840" cy="1005840"/>
          </a:xfrm>
          <a:prstGeom prst="ellipse">
            <a:avLst/>
          </a:prstGeom>
          <a:solidFill>
            <a:srgbClr val="3F9E8E"/>
          </a:solidFill>
          <a:ln/>
          <a:effectLst>
            <a:outerShdw sx="100000" sy="100000" kx="0" ky="0" algn="bl" rotWithShape="0" blurRad="63500" dist="25400" dir="5400000">
              <a:srgbClr val="000000">
                <a:alpha val="16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1258" y="2638958"/>
            <a:ext cx="482803" cy="482803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3520440"/>
            <a:ext cx="3392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教具三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8156448" y="3886200"/>
            <a:ext cx="3392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50" b="1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教師引導提問單</a:t>
            </a:r>
            <a:endParaRPr lang="en-US" sz="1850" dirty="0"/>
          </a:p>
        </p:txBody>
      </p:sp>
      <p:sp>
        <p:nvSpPr>
          <p:cNvPr id="21" name="Text 16"/>
          <p:cNvSpPr/>
          <p:nvPr/>
        </p:nvSpPr>
        <p:spPr>
          <a:xfrm>
            <a:off x="8430768" y="4434840"/>
            <a:ext cx="28437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867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每條路都有專屬追問，加上收尾統整一次到位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3A2A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3291840"/>
            <a:ext cx="6400800" cy="6400800"/>
          </a:xfrm>
          <a:prstGeom prst="ellipse">
            <a:avLst/>
          </a:prstGeom>
          <a:solidFill>
            <a:srgbClr val="E25B43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-2377440"/>
            <a:ext cx="5486400" cy="5486400"/>
          </a:xfrm>
          <a:prstGeom prst="ellipse">
            <a:avLst/>
          </a:prstGeom>
          <a:solidFill>
            <a:srgbClr val="3E8CB5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F0A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課堂示範 · 最關鍵的一刻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40080" y="82296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示範：霧社事件 × 骰子抉擇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640080" y="17830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2E4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學生扮演莫那魯道，選一條路、擲出情勢——歷史上他選了 C，遭強力鎮壓，卻成為反抗的象徵。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640080" y="2423160"/>
            <a:ext cx="3456432" cy="1691640"/>
          </a:xfrm>
          <a:prstGeom prst="roundRect">
            <a:avLst>
              <a:gd name="adj" fmla="val 6486"/>
            </a:avLst>
          </a:prstGeom>
          <a:solidFill>
            <a:srgbClr val="4A3729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68680" y="2834640"/>
            <a:ext cx="868680" cy="868680"/>
          </a:xfrm>
          <a:prstGeom prst="roundRect">
            <a:avLst>
              <a:gd name="adj" fmla="val 22000"/>
            </a:avLst>
          </a:prstGeom>
          <a:solidFill>
            <a:srgbClr val="F0A03B"/>
          </a:solidFill>
          <a:ln/>
          <a:effectLst>
            <a:outerShdw sx="100000" sy="100000" kx="0" ky="0" algn="bl" rotWithShape="0" blurRad="63500" dist="25400" dir="5400000">
              <a:srgbClr val="000000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68680" y="28346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1828800" y="2743200"/>
            <a:ext cx="2130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忍耐配合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828800" y="3291840"/>
            <a:ext cx="2130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9C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重視眼前安全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389120" y="2423160"/>
            <a:ext cx="3456432" cy="1691640"/>
          </a:xfrm>
          <a:prstGeom prst="roundRect">
            <a:avLst>
              <a:gd name="adj" fmla="val 6486"/>
            </a:avLst>
          </a:prstGeom>
          <a:solidFill>
            <a:srgbClr val="4A3729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17720" y="2834640"/>
            <a:ext cx="868680" cy="868680"/>
          </a:xfrm>
          <a:prstGeom prst="roundRect">
            <a:avLst>
              <a:gd name="adj" fmla="val 22000"/>
            </a:avLst>
          </a:prstGeom>
          <a:solidFill>
            <a:srgbClr val="3E8CB5"/>
          </a:solidFill>
          <a:ln/>
          <a:effectLst>
            <a:outerShdw sx="100000" sy="100000" kx="0" ky="0" algn="bl" rotWithShape="0" blurRad="63500" dist="25400" dir="5400000">
              <a:srgbClr val="000000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617720" y="28346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5577840" y="2743200"/>
            <a:ext cx="2130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和平陳情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577840" y="3291840"/>
            <a:ext cx="2130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9C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重視不流血的改變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138160" y="2423160"/>
            <a:ext cx="3456432" cy="1691640"/>
          </a:xfrm>
          <a:prstGeom prst="roundRect">
            <a:avLst>
              <a:gd name="adj" fmla="val 6486"/>
            </a:avLst>
          </a:prstGeom>
          <a:solidFill>
            <a:srgbClr val="4A3729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366760" y="2834640"/>
            <a:ext cx="868680" cy="868680"/>
          </a:xfrm>
          <a:prstGeom prst="roundRect">
            <a:avLst>
              <a:gd name="adj" fmla="val 22000"/>
            </a:avLst>
          </a:prstGeom>
          <a:solidFill>
            <a:srgbClr val="E25B43"/>
          </a:solidFill>
          <a:ln/>
          <a:effectLst>
            <a:outerShdw sx="100000" sy="100000" kx="0" ky="0" algn="bl" rotWithShape="0" blurRad="63500" dist="25400" dir="5400000">
              <a:srgbClr val="000000">
                <a:alpha val="16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366760" y="28346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4000" dirty="0"/>
          </a:p>
        </p:txBody>
      </p:sp>
      <p:sp>
        <p:nvSpPr>
          <p:cNvPr id="20" name="Text 18"/>
          <p:cNvSpPr/>
          <p:nvPr/>
        </p:nvSpPr>
        <p:spPr>
          <a:xfrm>
            <a:off x="9326880" y="2743200"/>
            <a:ext cx="2130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武裝起義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326880" y="3291840"/>
            <a:ext cx="2130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9C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重視族人尊嚴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40080" y="4434840"/>
            <a:ext cx="10908792" cy="1325880"/>
          </a:xfrm>
          <a:prstGeom prst="roundRect">
            <a:avLst>
              <a:gd name="adj" fmla="val 9655"/>
            </a:avLst>
          </a:prstGeom>
          <a:solidFill>
            <a:srgbClr val="E25B43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914400" y="4434840"/>
            <a:ext cx="1036015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負責任的決定，看的是「思考的過程」，不是「運氣的好壞」。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C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E25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不只社會科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一套工具，多處都能用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3392424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79092" y="2468880"/>
            <a:ext cx="914400" cy="914400"/>
          </a:xfrm>
          <a:prstGeom prst="ellipse">
            <a:avLst/>
          </a:prstGeom>
          <a:solidFill>
            <a:srgbClr val="E25B43"/>
          </a:solidFill>
          <a:ln/>
          <a:effectLst>
            <a:outerShdw sx="100000" sy="100000" kx="0" ky="0" algn="bl" rotWithShape="0" blurRad="63500" dist="25400" dir="5400000">
              <a:srgbClr val="000000">
                <a:alpha val="16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16836" y="2706624"/>
            <a:ext cx="438912" cy="4389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3611880"/>
            <a:ext cx="3392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社會科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640080" y="4114800"/>
            <a:ext cx="33924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67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歷史人物的抉擇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68680" y="4572000"/>
            <a:ext cx="2935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E25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秦始皇、蔣渭水、莫那魯道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4398264" y="2103120"/>
            <a:ext cx="3392424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637276" y="2468880"/>
            <a:ext cx="914400" cy="914400"/>
          </a:xfrm>
          <a:prstGeom prst="ellipse">
            <a:avLst/>
          </a:prstGeom>
          <a:solidFill>
            <a:srgbClr val="5FA463"/>
          </a:solidFill>
          <a:ln/>
          <a:effectLst>
            <a:outerShdw sx="100000" sy="100000" kx="0" ky="0" algn="bl" rotWithShape="0" blurRad="63500" dist="25400" dir="5400000">
              <a:srgbClr val="000000">
                <a:alpha val="16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5020" y="2706624"/>
            <a:ext cx="438912" cy="43891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398264" y="3611880"/>
            <a:ext cx="3392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國語繪本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4398264" y="4114800"/>
            <a:ext cx="33924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67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故事角色的選擇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4626864" y="4572000"/>
            <a:ext cx="2935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5FA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灰姑娘要不要去舞會？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8156448" y="2103120"/>
            <a:ext cx="3392424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9395460" y="2468880"/>
            <a:ext cx="914400" cy="914400"/>
          </a:xfrm>
          <a:prstGeom prst="ellipse">
            <a:avLst/>
          </a:prstGeom>
          <a:solidFill>
            <a:srgbClr val="3E8CB5"/>
          </a:solidFill>
          <a:ln/>
          <a:effectLst>
            <a:outerShdw sx="100000" sy="100000" kx="0" ky="0" algn="bl" rotWithShape="0" blurRad="63500" dist="25400" dir="5400000">
              <a:srgbClr val="000000">
                <a:alpha val="16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33204" y="2706624"/>
            <a:ext cx="438912" cy="43891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3611880"/>
            <a:ext cx="3392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班級經營</a:t>
            </a:r>
            <a:endParaRPr lang="en-US" sz="2000" dirty="0"/>
          </a:p>
        </p:txBody>
      </p:sp>
      <p:sp>
        <p:nvSpPr>
          <p:cNvPr id="20" name="Text 15"/>
          <p:cNvSpPr/>
          <p:nvPr/>
        </p:nvSpPr>
        <p:spPr>
          <a:xfrm>
            <a:off x="8156448" y="4114800"/>
            <a:ext cx="33924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67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真實的人際衝突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8385048" y="4572000"/>
            <a:ext cx="2935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3E8C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群組裡的孤立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3A2A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2194560"/>
            <a:ext cx="5486400" cy="5486400"/>
          </a:xfrm>
          <a:prstGeom prst="ellipse">
            <a:avLst/>
          </a:prstGeom>
          <a:solidFill>
            <a:srgbClr val="E25B43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194560" y="4023360"/>
            <a:ext cx="5486400" cy="5486400"/>
          </a:xfrm>
          <a:prstGeom prst="ellipse">
            <a:avLst/>
          </a:prstGeom>
          <a:solidFill>
            <a:srgbClr val="5FA463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F0A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帶得走的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帶走的，是一套思考的方法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640080" y="2331720"/>
            <a:ext cx="3392424" cy="1234440"/>
          </a:xfrm>
          <a:prstGeom prst="roundRect">
            <a:avLst>
              <a:gd name="adj" fmla="val 8889"/>
            </a:avLst>
          </a:prstGeom>
          <a:solidFill>
            <a:srgbClr val="4A3729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542032"/>
            <a:ext cx="777240" cy="777240"/>
          </a:xfrm>
          <a:prstGeom prst="ellipse">
            <a:avLst/>
          </a:prstGeom>
          <a:solidFill>
            <a:srgbClr val="5FA463"/>
          </a:solidFill>
          <a:ln/>
          <a:effectLst>
            <a:outerShdw sx="100000" sy="100000" kx="0" ky="0" algn="bl" rotWithShape="0" blurRad="63500" dist="25400" dir="5400000">
              <a:srgbClr val="000000">
                <a:alpha val="16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6482" y="2744114"/>
            <a:ext cx="373075" cy="37307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828800" y="2331720"/>
            <a:ext cx="206654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多案例思考鷹架</a:t>
            </a:r>
            <a:endParaRPr lang="en-US" sz="1650" dirty="0"/>
          </a:p>
        </p:txBody>
      </p:sp>
      <p:sp>
        <p:nvSpPr>
          <p:cNvPr id="10" name="Shape 7"/>
          <p:cNvSpPr/>
          <p:nvPr/>
        </p:nvSpPr>
        <p:spPr>
          <a:xfrm>
            <a:off x="4398264" y="2331720"/>
            <a:ext cx="3392424" cy="1234440"/>
          </a:xfrm>
          <a:prstGeom prst="roundRect">
            <a:avLst>
              <a:gd name="adj" fmla="val 8889"/>
            </a:avLst>
          </a:prstGeom>
          <a:solidFill>
            <a:srgbClr val="4A3729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72584" y="2542032"/>
            <a:ext cx="777240" cy="777240"/>
          </a:xfrm>
          <a:prstGeom prst="ellipse">
            <a:avLst/>
          </a:prstGeom>
          <a:solidFill>
            <a:srgbClr val="E25B43"/>
          </a:solidFill>
          <a:ln/>
          <a:effectLst>
            <a:outerShdw sx="100000" sy="100000" kx="0" ky="0" algn="bl" rotWithShape="0" blurRad="63500" dist="25400" dir="5400000">
              <a:srgbClr val="000000">
                <a:alpha val="16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4666" y="2744114"/>
            <a:ext cx="373075" cy="37307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586984" y="2331720"/>
            <a:ext cx="206654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骰子抉擇遊戲</a:t>
            </a:r>
            <a:endParaRPr lang="en-US" sz="1650" dirty="0"/>
          </a:p>
        </p:txBody>
      </p:sp>
      <p:sp>
        <p:nvSpPr>
          <p:cNvPr id="14" name="Shape 10"/>
          <p:cNvSpPr/>
          <p:nvPr/>
        </p:nvSpPr>
        <p:spPr>
          <a:xfrm>
            <a:off x="8156448" y="2331720"/>
            <a:ext cx="3392424" cy="1234440"/>
          </a:xfrm>
          <a:prstGeom prst="roundRect">
            <a:avLst>
              <a:gd name="adj" fmla="val 8889"/>
            </a:avLst>
          </a:prstGeom>
          <a:solidFill>
            <a:srgbClr val="4A3729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30768" y="2542032"/>
            <a:ext cx="777240" cy="777240"/>
          </a:xfrm>
          <a:prstGeom prst="ellipse">
            <a:avLst/>
          </a:prstGeom>
          <a:solidFill>
            <a:srgbClr val="3F9E8E"/>
          </a:solidFill>
          <a:ln/>
          <a:effectLst>
            <a:outerShdw sx="100000" sy="100000" kx="0" ky="0" algn="bl" rotWithShape="0" blurRad="63500" dist="25400" dir="5400000">
              <a:srgbClr val="000000">
                <a:alpha val="16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2850" y="2744114"/>
            <a:ext cx="373075" cy="37307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345168" y="2331720"/>
            <a:ext cx="206654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教師引導提問單</a:t>
            </a:r>
            <a:endParaRPr lang="en-US" sz="1650" dirty="0"/>
          </a:p>
        </p:txBody>
      </p:sp>
      <p:sp>
        <p:nvSpPr>
          <p:cNvPr id="18" name="Shape 13"/>
          <p:cNvSpPr/>
          <p:nvPr/>
        </p:nvSpPr>
        <p:spPr>
          <a:xfrm>
            <a:off x="640080" y="3931920"/>
            <a:ext cx="10908792" cy="1051560"/>
          </a:xfrm>
          <a:prstGeom prst="roundRect">
            <a:avLst>
              <a:gd name="adj" fmla="val 12174"/>
            </a:avLst>
          </a:prstGeom>
          <a:solidFill>
            <a:srgbClr val="E25B43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9" name="Text 14"/>
          <p:cNvSpPr/>
          <p:nvPr/>
        </p:nvSpPr>
        <p:spPr>
          <a:xfrm>
            <a:off x="914400" y="3931920"/>
            <a:ext cx="1036015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負責任的決定，不是保證好結果——而是想清楚之後，願意為自己的選擇負責。</a:t>
            </a:r>
            <a:endParaRPr lang="en-US" sz="1900" dirty="0"/>
          </a:p>
        </p:txBody>
      </p:sp>
      <p:sp>
        <p:nvSpPr>
          <p:cNvPr id="20" name="Shape 15"/>
          <p:cNvSpPr/>
          <p:nvPr/>
        </p:nvSpPr>
        <p:spPr>
          <a:xfrm>
            <a:off x="3355848" y="544068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E25B43"/>
          </a:solidFill>
          <a:ln/>
          <a:effectLst>
            <a:outerShdw sx="100000" sy="100000" kx="0" ky="0" algn="bl" rotWithShape="0" blurRad="63500" dist="25400" dir="5400000">
              <a:srgbClr val="000000">
                <a:alpha val="16000"/>
              </a:srgbClr>
            </a:outerShdw>
          </a:effectLst>
        </p:spPr>
      </p:sp>
      <p:sp>
        <p:nvSpPr>
          <p:cNvPr id="21" name="Text 16"/>
          <p:cNvSpPr/>
          <p:nvPr/>
        </p:nvSpPr>
        <p:spPr>
          <a:xfrm>
            <a:off x="3355848" y="5440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</a:t>
            </a:r>
            <a:endParaRPr lang="en-US" sz="2500" dirty="0"/>
          </a:p>
        </p:txBody>
      </p:sp>
      <p:sp>
        <p:nvSpPr>
          <p:cNvPr id="22" name="Shape 17"/>
          <p:cNvSpPr/>
          <p:nvPr/>
        </p:nvSpPr>
        <p:spPr>
          <a:xfrm>
            <a:off x="4059936" y="544068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F0A03B"/>
          </a:solidFill>
          <a:ln/>
          <a:effectLst>
            <a:outerShdw sx="100000" sy="100000" kx="0" ky="0" algn="bl" rotWithShape="0" blurRad="63500" dist="25400" dir="5400000">
              <a:srgbClr val="000000">
                <a:alpha val="16000"/>
              </a:srgbClr>
            </a:outerShdw>
          </a:effectLst>
        </p:spPr>
      </p:sp>
      <p:sp>
        <p:nvSpPr>
          <p:cNvPr id="23" name="Text 18"/>
          <p:cNvSpPr/>
          <p:nvPr/>
        </p:nvSpPr>
        <p:spPr>
          <a:xfrm>
            <a:off x="4059936" y="5440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2500" dirty="0"/>
          </a:p>
        </p:txBody>
      </p:sp>
      <p:sp>
        <p:nvSpPr>
          <p:cNvPr id="24" name="Shape 19"/>
          <p:cNvSpPr/>
          <p:nvPr/>
        </p:nvSpPr>
        <p:spPr>
          <a:xfrm>
            <a:off x="4764024" y="544068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D9A82E"/>
          </a:solidFill>
          <a:ln/>
          <a:effectLst>
            <a:outerShdw sx="100000" sy="100000" kx="0" ky="0" algn="bl" rotWithShape="0" blurRad="63500" dist="25400" dir="5400000">
              <a:srgbClr val="000000">
                <a:alpha val="16000"/>
              </a:srgbClr>
            </a:outerShdw>
          </a:effectLst>
        </p:spPr>
      </p:sp>
      <p:sp>
        <p:nvSpPr>
          <p:cNvPr id="25" name="Text 20"/>
          <p:cNvSpPr/>
          <p:nvPr/>
        </p:nvSpPr>
        <p:spPr>
          <a:xfrm>
            <a:off x="4764024" y="5440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</a:t>
            </a:r>
            <a:endParaRPr lang="en-US" sz="2500" dirty="0"/>
          </a:p>
        </p:txBody>
      </p:sp>
      <p:sp>
        <p:nvSpPr>
          <p:cNvPr id="26" name="Shape 21"/>
          <p:cNvSpPr/>
          <p:nvPr/>
        </p:nvSpPr>
        <p:spPr>
          <a:xfrm>
            <a:off x="5468112" y="544068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5FA463"/>
          </a:solidFill>
          <a:ln/>
          <a:effectLst>
            <a:outerShdw sx="100000" sy="100000" kx="0" ky="0" algn="bl" rotWithShape="0" blurRad="63500" dist="25400" dir="5400000">
              <a:srgbClr val="000000">
                <a:alpha val="16000"/>
              </a:srgbClr>
            </a:outerShdw>
          </a:effectLst>
        </p:spPr>
      </p:sp>
      <p:sp>
        <p:nvSpPr>
          <p:cNvPr id="27" name="Text 22"/>
          <p:cNvSpPr/>
          <p:nvPr/>
        </p:nvSpPr>
        <p:spPr>
          <a:xfrm>
            <a:off x="5468112" y="5440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endParaRPr lang="en-US" sz="2500" dirty="0"/>
          </a:p>
        </p:txBody>
      </p:sp>
      <p:sp>
        <p:nvSpPr>
          <p:cNvPr id="28" name="Shape 23"/>
          <p:cNvSpPr/>
          <p:nvPr/>
        </p:nvSpPr>
        <p:spPr>
          <a:xfrm>
            <a:off x="6172200" y="544068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3F9E8E"/>
          </a:solidFill>
          <a:ln/>
          <a:effectLst>
            <a:outerShdw sx="100000" sy="100000" kx="0" ky="0" algn="bl" rotWithShape="0" blurRad="63500" dist="25400" dir="5400000">
              <a:srgbClr val="000000">
                <a:alpha val="16000"/>
              </a:srgbClr>
            </a:outerShdw>
          </a:effectLst>
        </p:spPr>
      </p:sp>
      <p:sp>
        <p:nvSpPr>
          <p:cNvPr id="29" name="Text 24"/>
          <p:cNvSpPr/>
          <p:nvPr/>
        </p:nvSpPr>
        <p:spPr>
          <a:xfrm>
            <a:off x="6172200" y="5440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</a:t>
            </a:r>
            <a:endParaRPr lang="en-US" sz="2500" dirty="0"/>
          </a:p>
        </p:txBody>
      </p:sp>
      <p:sp>
        <p:nvSpPr>
          <p:cNvPr id="30" name="Shape 25"/>
          <p:cNvSpPr/>
          <p:nvPr/>
        </p:nvSpPr>
        <p:spPr>
          <a:xfrm>
            <a:off x="6876288" y="544068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3E8CB5"/>
          </a:solidFill>
          <a:ln/>
          <a:effectLst>
            <a:outerShdw sx="100000" sy="100000" kx="0" ky="0" algn="bl" rotWithShape="0" blurRad="63500" dist="25400" dir="5400000">
              <a:srgbClr val="000000">
                <a:alpha val="16000"/>
              </a:srgbClr>
            </a:outerShdw>
          </a:effectLst>
        </p:spPr>
      </p:sp>
      <p:sp>
        <p:nvSpPr>
          <p:cNvPr id="31" name="Text 26"/>
          <p:cNvSpPr/>
          <p:nvPr/>
        </p:nvSpPr>
        <p:spPr>
          <a:xfrm>
            <a:off x="6876288" y="5440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2500" dirty="0"/>
          </a:p>
        </p:txBody>
      </p:sp>
      <p:sp>
        <p:nvSpPr>
          <p:cNvPr id="32" name="Shape 27"/>
          <p:cNvSpPr/>
          <p:nvPr/>
        </p:nvSpPr>
        <p:spPr>
          <a:xfrm>
            <a:off x="7580376" y="544068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356E9E"/>
          </a:solidFill>
          <a:ln/>
          <a:effectLst>
            <a:outerShdw sx="100000" sy="100000" kx="0" ky="0" algn="bl" rotWithShape="0" blurRad="63500" dist="25400" dir="5400000">
              <a:srgbClr val="000000">
                <a:alpha val="16000"/>
              </a:srgbClr>
            </a:outerShdw>
          </a:effectLst>
        </p:spPr>
      </p:sp>
      <p:sp>
        <p:nvSpPr>
          <p:cNvPr id="33" name="Text 28"/>
          <p:cNvSpPr/>
          <p:nvPr/>
        </p:nvSpPr>
        <p:spPr>
          <a:xfrm>
            <a:off x="7580376" y="5440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2500" dirty="0"/>
          </a:p>
        </p:txBody>
      </p:sp>
      <p:sp>
        <p:nvSpPr>
          <p:cNvPr id="34" name="Shape 29"/>
          <p:cNvSpPr/>
          <p:nvPr/>
        </p:nvSpPr>
        <p:spPr>
          <a:xfrm>
            <a:off x="8284464" y="544068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C9743E"/>
          </a:solidFill>
          <a:ln/>
          <a:effectLst>
            <a:outerShdw sx="100000" sy="100000" kx="0" ky="0" algn="bl" rotWithShape="0" blurRad="63500" dist="25400" dir="5400000">
              <a:srgbClr val="000000">
                <a:alpha val="16000"/>
              </a:srgbClr>
            </a:outerShdw>
          </a:effectLst>
        </p:spPr>
      </p:sp>
      <p:sp>
        <p:nvSpPr>
          <p:cNvPr id="35" name="Text 30"/>
          <p:cNvSpPr/>
          <p:nvPr/>
        </p:nvSpPr>
        <p:spPr>
          <a:xfrm>
            <a:off x="8284464" y="5440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</a:t>
            </a:r>
            <a:endParaRPr lang="en-US" sz="2500" dirty="0"/>
          </a:p>
        </p:txBody>
      </p:sp>
      <p:sp>
        <p:nvSpPr>
          <p:cNvPr id="36" name="Text 31"/>
          <p:cNvSpPr/>
          <p:nvPr/>
        </p:nvSpPr>
        <p:spPr>
          <a:xfrm>
            <a:off x="640080" y="6172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9C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謝謝聆聽　·　歡迎提問與交流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FIG-TESPN 融入社會科教學包（精簡版）</dc:title>
  <dc:subject>PptxGenJS Presentation</dc:subject>
  <dc:creator>新北市課程輔導團・社會領域</dc:creator>
  <cp:lastModifiedBy>新北市課程輔導團・社會領域</cp:lastModifiedBy>
  <cp:revision>1</cp:revision>
  <dcterms:created xsi:type="dcterms:W3CDTF">2026-06-24T07:44:16Z</dcterms:created>
  <dcterms:modified xsi:type="dcterms:W3CDTF">2026-06-24T07:44:16Z</dcterms:modified>
</cp:coreProperties>
</file>