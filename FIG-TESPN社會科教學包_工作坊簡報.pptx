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開場：用一句教室裡的真實感受切入——我們都教過228、霧社事件，但學生真的『感受』到了嗎？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核心轉折：別把SEL當成額外負擔，它就是中心德目，可以融進社會課。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這是全場最重要的一頁。停頓一下，讓老師們體會：骰子＝人生的不可控；我們教孩子的是『想清楚的過程』。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560320"/>
            <a:ext cx="5486400" cy="5486400"/>
          </a:xfrm>
          <a:prstGeom prst="ellipse">
            <a:avLst/>
          </a:prstGeom>
          <a:solidFill>
            <a:srgbClr val="E25B43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206240"/>
            <a:ext cx="5029200" cy="5029200"/>
          </a:xfrm>
          <a:prstGeom prst="ellipse">
            <a:avLst/>
          </a:prstGeom>
          <a:solidFill>
            <a:srgbClr val="F0A03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25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0A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社會情緒學習 × 社會科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站在抉擇的那一刻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B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把社會情緒學習，玩進一堂社會課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FIG-TESPN 融入社會科教學包　｜　多案例鷹架 · 骰子抉擇遊戲 · 教師提問單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2245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9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新北市課程輔導團・社會領域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55848" y="55778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55848" y="5577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500" dirty="0"/>
          </a:p>
        </p:txBody>
      </p:sp>
      <p:sp>
        <p:nvSpPr>
          <p:cNvPr id="11" name="Shape 9"/>
          <p:cNvSpPr/>
          <p:nvPr/>
        </p:nvSpPr>
        <p:spPr>
          <a:xfrm>
            <a:off x="4059936" y="55778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059936" y="5577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4764024" y="55778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9A82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64024" y="5577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500" dirty="0"/>
          </a:p>
        </p:txBody>
      </p:sp>
      <p:sp>
        <p:nvSpPr>
          <p:cNvPr id="15" name="Shape 13"/>
          <p:cNvSpPr/>
          <p:nvPr/>
        </p:nvSpPr>
        <p:spPr>
          <a:xfrm>
            <a:off x="5468112" y="55778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68112" y="5577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500" dirty="0"/>
          </a:p>
        </p:txBody>
      </p:sp>
      <p:sp>
        <p:nvSpPr>
          <p:cNvPr id="17" name="Shape 15"/>
          <p:cNvSpPr/>
          <p:nvPr/>
        </p:nvSpPr>
        <p:spPr>
          <a:xfrm>
            <a:off x="6172200" y="55778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72200" y="5577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500" dirty="0"/>
          </a:p>
        </p:txBody>
      </p:sp>
      <p:sp>
        <p:nvSpPr>
          <p:cNvPr id="19" name="Shape 17"/>
          <p:cNvSpPr/>
          <p:nvPr/>
        </p:nvSpPr>
        <p:spPr>
          <a:xfrm>
            <a:off x="6876288" y="55778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76288" y="5577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7580376" y="55778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56E9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580376" y="5577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500" dirty="0"/>
          </a:p>
        </p:txBody>
      </p:sp>
      <p:sp>
        <p:nvSpPr>
          <p:cNvPr id="23" name="Shape 21"/>
          <p:cNvSpPr/>
          <p:nvPr/>
        </p:nvSpPr>
        <p:spPr>
          <a:xfrm>
            <a:off x="8284464" y="55778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84464" y="5577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為什麼要這樣做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一個社會老師都熟悉的兩難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222382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203911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五年級歷史分量重，進度壓力大</a:t>
            </a:r>
            <a:endParaRPr lang="en-US" sz="1650" dirty="0"/>
          </a:p>
        </p:txBody>
      </p:sp>
      <p:sp>
        <p:nvSpPr>
          <p:cNvPr id="7" name="Shape 4"/>
          <p:cNvSpPr/>
          <p:nvPr/>
        </p:nvSpPr>
        <p:spPr>
          <a:xfrm>
            <a:off x="640080" y="3108960"/>
            <a:ext cx="640080" cy="640080"/>
          </a:xfrm>
          <a:prstGeom prst="ellipse">
            <a:avLst/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01" y="3275381"/>
            <a:ext cx="307238" cy="30723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309067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228、霧社事件「教過了，卻沒被真正感受」</a:t>
            </a:r>
            <a:endParaRPr lang="en-US" sz="1650" dirty="0"/>
          </a:p>
        </p:txBody>
      </p:sp>
      <p:sp>
        <p:nvSpPr>
          <p:cNvPr id="10" name="Shape 6"/>
          <p:cNvSpPr/>
          <p:nvPr/>
        </p:nvSpPr>
        <p:spPr>
          <a:xfrm>
            <a:off x="640080" y="4160520"/>
            <a:ext cx="640080" cy="640080"/>
          </a:xfrm>
          <a:prstGeom prst="ellipse">
            <a:avLst/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4326941"/>
            <a:ext cx="307238" cy="30723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508760" y="414223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社會情緒學習常被當成「額外一門課」，最後失敗</a:t>
            </a:r>
            <a:endParaRPr lang="en-US" sz="1650" dirty="0"/>
          </a:p>
        </p:txBody>
      </p:sp>
      <p:sp>
        <p:nvSpPr>
          <p:cNvPr id="13" name="Shape 8"/>
          <p:cNvSpPr/>
          <p:nvPr/>
        </p:nvSpPr>
        <p:spPr>
          <a:xfrm>
            <a:off x="7818120" y="2011680"/>
            <a:ext cx="3749040" cy="3154680"/>
          </a:xfrm>
          <a:prstGeom prst="roundRect">
            <a:avLst>
              <a:gd name="adj" fmla="val 3478"/>
            </a:avLst>
          </a:prstGeom>
          <a:solidFill>
            <a:srgbClr val="FFF4E2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809244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一學期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7955280" y="2697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E25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1–2</a:t>
            </a:r>
            <a:endParaRPr lang="en-US" sz="9000" dirty="0"/>
          </a:p>
        </p:txBody>
      </p:sp>
      <p:sp>
        <p:nvSpPr>
          <p:cNvPr id="16" name="Text 11"/>
          <p:cNvSpPr/>
          <p:nvPr/>
        </p:nvSpPr>
        <p:spPr>
          <a:xfrm>
            <a:off x="7955280" y="3822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8001000" y="42976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真正能讓學生「深入探究」的機會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5486400"/>
          </a:xfrm>
          <a:prstGeom prst="ellipse">
            <a:avLst/>
          </a:prstGeom>
          <a:solidFill>
            <a:srgbClr val="F0A03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005840"/>
            <a:ext cx="777240" cy="77724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" y="1207922"/>
            <a:ext cx="373075" cy="3730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91640" y="1078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0A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換個做法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91640" y="137160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與其多開一門課，不如融進這堂課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1691640" y="26974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E4B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社會情緒學習的核心主張：它不該是單獨的一門課，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E4B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而要融入日常的學科教學裡。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40080" y="3977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9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其實，SEL 五面向就是我們熟悉的「中心德目」：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4526280"/>
            <a:ext cx="3246120" cy="777240"/>
          </a:xfrm>
          <a:prstGeom prst="roundRect">
            <a:avLst>
              <a:gd name="adj" fmla="val 49412"/>
            </a:avLst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45262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毅力 → 自我管理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60520" y="4526280"/>
            <a:ext cx="3246120" cy="777240"/>
          </a:xfrm>
          <a:prstGeom prst="roundRect">
            <a:avLst>
              <a:gd name="adj" fmla="val 49412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160520" y="45262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互助 → 人際關係技巧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680960" y="4526280"/>
            <a:ext cx="3246120" cy="777240"/>
          </a:xfrm>
          <a:prstGeom prst="roundRect">
            <a:avLst>
              <a:gd name="adj" fmla="val 49412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80960" y="45262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 → 負責任的決定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核心工具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一套可以帶走的思考工具：FIG-TESPN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｜ 覺察與定向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703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TESPN ｜ 歷程與行動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51460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46888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463040" y="24871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情緒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63040" y="28895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覺察感受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37560" y="2286000"/>
            <a:ext cx="251460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02152" y="246888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02152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160520" y="24871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160520" y="28895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看清處境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035040" y="2286000"/>
            <a:ext cx="251460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99632" y="246888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D9A82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99632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858000" y="24871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858000" y="28895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確認想要什麼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114800"/>
            <a:ext cx="251460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4672" y="429768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4672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463040" y="43159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463040" y="47183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想出多種選擇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2738628" y="4114800"/>
            <a:ext cx="251460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903220" y="429768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322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3561588" y="43159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後果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3561588" y="47183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預想每個結果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837176" y="4114800"/>
            <a:ext cx="251460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001768" y="429768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001768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5660136" y="43159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選擇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5660136" y="47183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做出決定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935724" y="4114800"/>
            <a:ext cx="251460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100316" y="429768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356E9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100316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7758684" y="43159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計畫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758684" y="47183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規劃並行動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9034272" y="4114800"/>
            <a:ext cx="251460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198864" y="4297680"/>
            <a:ext cx="566928" cy="566928"/>
          </a:xfrm>
          <a:prstGeom prst="roundRect">
            <a:avLst>
              <a:gd name="adj" fmla="val 22000"/>
            </a:avLst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9198864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9857232" y="43159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檢視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9857232" y="4718304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回看結果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它在練什麼能力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每一步，都在練一種 SEL 能力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12264"/>
            <a:ext cx="493776" cy="493776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630" y="2240646"/>
            <a:ext cx="237012" cy="2370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98424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自我覺察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206240" y="1984248"/>
            <a:ext cx="2560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Self-Awareness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766560" y="1984248"/>
            <a:ext cx="45994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情緒覺察 · 我與他的對照反思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288036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026664"/>
            <a:ext cx="493776" cy="493776"/>
          </a:xfrm>
          <a:prstGeom prst="ellipse">
            <a:avLst/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30" y="3155046"/>
            <a:ext cx="237012" cy="2370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89864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社會覺察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4206240" y="2898648"/>
            <a:ext cx="2560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Awareness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766560" y="2898648"/>
            <a:ext cx="45994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看清處境 · N 檢視結果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40080" y="379476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" y="3941064"/>
            <a:ext cx="493776" cy="493776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630" y="4069446"/>
            <a:ext cx="237012" cy="2370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381304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自我管理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4206240" y="3813048"/>
            <a:ext cx="2560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Self-Management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766560" y="3813048"/>
            <a:ext cx="45994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想清楚再決定 · P 計畫行動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640080" y="470916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41248" y="4855464"/>
            <a:ext cx="493776" cy="493776"/>
          </a:xfrm>
          <a:prstGeom prst="ellipse">
            <a:avLst/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630" y="4983846"/>
            <a:ext cx="237012" cy="23701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554480" y="472744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人際關係技巧</a:t>
            </a:r>
            <a:endParaRPr lang="en-US" sz="1700" dirty="0"/>
          </a:p>
        </p:txBody>
      </p:sp>
      <p:sp>
        <p:nvSpPr>
          <p:cNvPr id="26" name="Text 20"/>
          <p:cNvSpPr/>
          <p:nvPr/>
        </p:nvSpPr>
        <p:spPr>
          <a:xfrm>
            <a:off x="4206240" y="4727448"/>
            <a:ext cx="2560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Skills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6766560" y="4727448"/>
            <a:ext cx="45994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全程的分組討論與分享</a:t>
            </a:r>
            <a:endParaRPr lang="en-US" sz="1450" dirty="0"/>
          </a:p>
        </p:txBody>
      </p:sp>
      <p:sp>
        <p:nvSpPr>
          <p:cNvPr id="28" name="Shape 22"/>
          <p:cNvSpPr/>
          <p:nvPr/>
        </p:nvSpPr>
        <p:spPr>
          <a:xfrm>
            <a:off x="640080" y="5623560"/>
            <a:ext cx="10908792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841248" y="5769864"/>
            <a:ext cx="493776" cy="493776"/>
          </a:xfrm>
          <a:prstGeom prst="ellipse">
            <a:avLst/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630" y="5898246"/>
            <a:ext cx="237012" cy="23701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554480" y="564184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負責任的決定</a:t>
            </a:r>
            <a:endParaRPr lang="en-US" sz="1700" dirty="0"/>
          </a:p>
        </p:txBody>
      </p:sp>
      <p:sp>
        <p:nvSpPr>
          <p:cNvPr id="32" name="Text 25"/>
          <p:cNvSpPr/>
          <p:nvPr/>
        </p:nvSpPr>
        <p:spPr>
          <a:xfrm>
            <a:off x="4206240" y="5641848"/>
            <a:ext cx="2560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Decision</a:t>
            </a:r>
            <a:endParaRPr lang="en-US" sz="1250" dirty="0"/>
          </a:p>
        </p:txBody>
      </p:sp>
      <p:sp>
        <p:nvSpPr>
          <p:cNvPr id="33" name="Text 26"/>
          <p:cNvSpPr/>
          <p:nvPr/>
        </p:nvSpPr>
        <p:spPr>
          <a:xfrm>
            <a:off x="6766560" y="5641848"/>
            <a:ext cx="45994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目標 · E 後果 · S 選擇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課堂節奏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一節課怎麼跑（40 分鐘）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0698480" y="640080"/>
            <a:ext cx="822960" cy="822960"/>
          </a:xfrm>
          <a:prstGeom prst="ellipse">
            <a:avLst/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2450" y="854050"/>
            <a:ext cx="395021" cy="3950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65098" y="2468880"/>
            <a:ext cx="658368" cy="658368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165098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31520" y="3273552"/>
            <a:ext cx="15255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情境導入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49808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影片帶入歷史現場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31520" y="4526280"/>
            <a:ext cx="1525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25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5′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2480158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005176" y="2468880"/>
            <a:ext cx="658368" cy="658368"/>
          </a:xfrm>
          <a:prstGeom prst="ellipse">
            <a:avLst/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005176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2571598" y="3273552"/>
            <a:ext cx="15255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個人初思 · FIG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2589886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讀懂感受 / 問題 / 目標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571598" y="4526280"/>
            <a:ext cx="1525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5′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320235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845253" y="2468880"/>
            <a:ext cx="658368" cy="658368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845253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4411675" y="3273552"/>
            <a:ext cx="15255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分組探究 · TES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29963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想選擇 → 預想後果 → 抉擇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411675" y="4526280"/>
            <a:ext cx="1525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A4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12′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160313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685331" y="2468880"/>
            <a:ext cx="658368" cy="658368"/>
          </a:xfrm>
          <a:prstGeom prst="ellipse">
            <a:avLst/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685331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6251753" y="3273552"/>
            <a:ext cx="15255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全班分享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6270041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各組報告抉擇與理由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251753" y="4526280"/>
            <a:ext cx="1525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8C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8′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8000390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525408" y="2468880"/>
            <a:ext cx="658368" cy="658368"/>
          </a:xfrm>
          <a:prstGeom prst="ellipse">
            <a:avLst/>
          </a:prstGeom>
          <a:solidFill>
            <a:srgbClr val="356E9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8525408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33" name="Text 30"/>
          <p:cNvSpPr/>
          <p:nvPr/>
        </p:nvSpPr>
        <p:spPr>
          <a:xfrm>
            <a:off x="8091830" y="3273552"/>
            <a:ext cx="15255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對照反思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8110118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「歷史 ↔ 我」的負責任決定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8091830" y="4526280"/>
            <a:ext cx="1525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56E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8′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840468" y="2194560"/>
            <a:ext cx="1708404" cy="2743200"/>
          </a:xfrm>
          <a:prstGeom prst="roundRect">
            <a:avLst>
              <a:gd name="adj" fmla="val 64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10365486" y="2468880"/>
            <a:ext cx="658368" cy="658368"/>
          </a:xfrm>
          <a:prstGeom prst="ellipse">
            <a:avLst/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10365486" y="24688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39" name="Text 36"/>
          <p:cNvSpPr/>
          <p:nvPr/>
        </p:nvSpPr>
        <p:spPr>
          <a:xfrm>
            <a:off x="9931908" y="3273552"/>
            <a:ext cx="15255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統整收尾</a:t>
            </a:r>
            <a:endParaRPr lang="en-US" sz="1450" dirty="0"/>
          </a:p>
        </p:txBody>
      </p:sp>
      <p:sp>
        <p:nvSpPr>
          <p:cNvPr id="40" name="Text 37"/>
          <p:cNvSpPr/>
          <p:nvPr/>
        </p:nvSpPr>
        <p:spPr>
          <a:xfrm>
            <a:off x="9950196" y="3858768"/>
            <a:ext cx="148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連結現實議題</a:t>
            </a:r>
            <a:endParaRPr lang="en-US" sz="1150" dirty="0"/>
          </a:p>
        </p:txBody>
      </p:sp>
      <p:sp>
        <p:nvSpPr>
          <p:cNvPr id="41" name="Text 38"/>
          <p:cNvSpPr/>
          <p:nvPr/>
        </p:nvSpPr>
        <p:spPr>
          <a:xfrm>
            <a:off x="9931908" y="4526280"/>
            <a:ext cx="1525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74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2′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5FA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教具一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多案例思考鷹架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0607040" y="566928"/>
            <a:ext cx="868680" cy="868680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2897" y="792785"/>
            <a:ext cx="416966" cy="4169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96596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一張鷹架，走遍每一個歷史抉擇。</a:t>
            </a:r>
            <a:endParaRPr lang="en-US" sz="1650" dirty="0"/>
          </a:p>
          <a:p>
            <a:pPr indent="0" marL="0">
              <a:lnSpc>
                <a:spcPct val="115000"/>
              </a:lnSpc>
              <a:buNone/>
            </a:pPr>
            <a:endParaRPr lang="en-US" sz="16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學生先讀懂歷史人物的情緒、問題與目標，</a:t>
            </a:r>
            <a:endParaRPr lang="en-US" sz="16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再對照自己：「如果是我，我會怎麼做？」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40080" y="41605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A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可列印發給學生，也能投影共讀共寫。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0" y="1920240"/>
            <a:ext cx="29718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687568" y="2194560"/>
            <a:ext cx="502920" cy="50292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327" y="232531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27648" y="217627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莫那魯道 · 霧社事件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6327648" y="2834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台灣 · 1930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778240" y="1920240"/>
            <a:ext cx="29718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979408" y="2194560"/>
            <a:ext cx="502920" cy="502920"/>
          </a:xfrm>
          <a:prstGeom prst="ellipse">
            <a:avLst/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0167" y="2325319"/>
            <a:ext cx="241402" cy="24140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619488" y="217627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秦始皇 · 焚書坑儒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9619488" y="2834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中國 · 秦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0" y="3611880"/>
            <a:ext cx="29718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687568" y="3886200"/>
            <a:ext cx="502920" cy="502920"/>
          </a:xfrm>
          <a:prstGeom prst="ellipse">
            <a:avLst/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8327" y="4016959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27648" y="386791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蔣渭水 · 非武裝抗日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6327648" y="4526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台灣 · 1920s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8778240" y="3611880"/>
            <a:ext cx="297180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8979408" y="3886200"/>
            <a:ext cx="502920" cy="502920"/>
          </a:xfrm>
          <a:prstGeom prst="ellipse">
            <a:avLst/>
          </a:prstGeom>
          <a:solidFill>
            <a:srgbClr val="356E9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0167" y="4016959"/>
            <a:ext cx="241402" cy="24140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619488" y="386791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日治時期的台灣人警察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9619488" y="4526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台灣 · 日治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教具二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骰子抉擇遊戲：選一條路，擲出後果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0607040" y="566928"/>
            <a:ext cx="868680" cy="86868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2897" y="792785"/>
            <a:ext cx="416966" cy="4169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783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讓學生親身體驗——做決定時，有些情勢是你無法完全掌控的。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2468880"/>
            <a:ext cx="3456432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956816" y="2761488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956816" y="276148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640080" y="3749040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忍耐配合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40080" y="4224528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重視眼前的安全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89120" y="2468880"/>
            <a:ext cx="3456432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705856" y="2761488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705856" y="276148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800" dirty="0"/>
          </a:p>
        </p:txBody>
      </p:sp>
      <p:sp>
        <p:nvSpPr>
          <p:cNvPr id="15" name="Text 12"/>
          <p:cNvSpPr/>
          <p:nvPr/>
        </p:nvSpPr>
        <p:spPr>
          <a:xfrm>
            <a:off x="4389120" y="3749040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和平陳情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4389120" y="4224528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重視不流血的改變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138160" y="2468880"/>
            <a:ext cx="3456432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454896" y="2761488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454896" y="276148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8138160" y="3749040"/>
            <a:ext cx="3456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武裝起義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8138160" y="4224528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重視族人的尊嚴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008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C97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擲出的「情勢之骰」＝其他社是否響應、消息是否走漏、日方如何反應……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課堂示範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示範：用 FIG-TESPN 走進霧社事件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211226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86384" y="21122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508760" y="1965960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屈辱、憤怒，與對族人未來的憂慮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0" y="1965960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47104" y="211226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47104" y="21122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7269480" y="1965960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族人長期被壓迫，尊嚴受損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063240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86384" y="320954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9A82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86384" y="32095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1508760" y="3063240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守護族人的尊嚴、文化與生存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0" y="3063240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47104" y="320954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547104" y="32095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7269480" y="3063240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忍耐 / 和平陳情 / 武裝起義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160520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86384" y="43068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86384" y="4306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1508760" y="4160520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每條路，都有不同的代價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00800" y="4160520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47104" y="43068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47104" y="4306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7269480" y="4160520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他選擇了：武裝起義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40080" y="5257800"/>
            <a:ext cx="11155680" cy="841248"/>
          </a:xfrm>
          <a:prstGeom prst="roundRect">
            <a:avLst>
              <a:gd name="adj" fmla="val 13043"/>
            </a:avLst>
          </a:prstGeom>
          <a:solidFill>
            <a:srgbClr val="FFF4E2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86384" y="540410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86384" y="54041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500" dirty="0"/>
          </a:p>
        </p:txBody>
      </p:sp>
      <p:sp>
        <p:nvSpPr>
          <p:cNvPr id="31" name="Text 29"/>
          <p:cNvSpPr/>
          <p:nvPr/>
        </p:nvSpPr>
        <p:spPr>
          <a:xfrm>
            <a:off x="1508760" y="5257800"/>
            <a:ext cx="10149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遭強力鎮壓，卻成為反抗的象徵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A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00400"/>
            <a:ext cx="6400800" cy="6400800"/>
          </a:xfrm>
          <a:prstGeom prst="ellipse">
            <a:avLst/>
          </a:prstGeom>
          <a:solidFill>
            <a:srgbClr val="E25B43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-2377440"/>
            <a:ext cx="5486400" cy="5486400"/>
          </a:xfrm>
          <a:prstGeom prst="ellipse">
            <a:avLst/>
          </a:prstGeom>
          <a:solidFill>
            <a:srgbClr val="3E8CB5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097280"/>
            <a:ext cx="914400" cy="91440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3350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240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0A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最關鍵的一刻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2560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結果無法完全掌控——那我們能掌握什麼？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36118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E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我們能掌握的，是「把每個選擇的後果想清楚、確認自己的目標與價值」。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4526280"/>
            <a:ext cx="10908792" cy="1234440"/>
          </a:xfrm>
          <a:prstGeom prst="roundRect">
            <a:avLst>
              <a:gd name="adj" fmla="val 11852"/>
            </a:avLst>
          </a:prstGeom>
          <a:solidFill>
            <a:srgbClr val="E25B43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14400" y="4526280"/>
            <a:ext cx="10360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負責任的決定，看的是「思考的過程」，不是「運氣的好壞」。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3F9E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教具三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教師引導提問單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0607040" y="566928"/>
            <a:ext cx="868680" cy="868680"/>
          </a:xfrm>
          <a:prstGeom prst="ellipse">
            <a:avLst/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2897" y="792785"/>
            <a:ext cx="416966" cy="4169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783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</a:t>
            </a:r>
            <a:pPr indent="0" marL="0">
              <a:buNone/>
            </a:pPr>
            <a:r>
              <a:rPr lang="en-US" sz="15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必問　　</a:t>
            </a:r>
            <a:pPr indent="0" marL="0">
              <a:buNone/>
            </a:pPr>
            <a:r>
              <a:rPr lang="en-US" sz="1500" b="1" dirty="0">
                <a:solidFill>
                  <a:srgbClr val="3E8C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</a:t>
            </a:r>
            <a:pPr indent="0" marL="0">
              <a:buNone/>
            </a:pPr>
            <a:r>
              <a:rPr lang="en-US" sz="15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彈性追問　—　每條路都有專屬追問，收尾統整一次到位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77440"/>
            <a:ext cx="67665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596896"/>
            <a:ext cx="1783080" cy="402336"/>
          </a:xfrm>
          <a:prstGeom prst="roundRect">
            <a:avLst>
              <a:gd name="adj" fmla="val 50000"/>
            </a:avLst>
          </a:prstGeom>
          <a:solidFill>
            <a:srgbClr val="F0A03B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596896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忍耐配合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2788920" y="2377440"/>
            <a:ext cx="4480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「沒有衝突，就等於問題解決了嗎？」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40080" y="3346704"/>
            <a:ext cx="67665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22960" y="3566160"/>
            <a:ext cx="1783080" cy="402336"/>
          </a:xfrm>
          <a:prstGeom prst="roundRect">
            <a:avLst>
              <a:gd name="adj" fmla="val 50000"/>
            </a:avLst>
          </a:prstGeom>
          <a:solidFill>
            <a:srgbClr val="3E8CB5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3566160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和平陳情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2788920" y="3346704"/>
            <a:ext cx="4480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「為什麼和平這條路，常常沒有用？」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4315968"/>
            <a:ext cx="67665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2960" y="4535424"/>
            <a:ext cx="1783080" cy="402336"/>
          </a:xfrm>
          <a:prstGeom prst="roundRect">
            <a:avLst>
              <a:gd name="adj" fmla="val 50000"/>
            </a:avLst>
          </a:prstGeom>
          <a:solidFill>
            <a:srgbClr val="E25B43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4535424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武裝起義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2788920" y="4315968"/>
            <a:ext cx="4480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「明知會失敗，為什麼還是選擇反抗？」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7726680" y="2377440"/>
            <a:ext cx="3840480" cy="2926080"/>
          </a:xfrm>
          <a:prstGeom prst="roundRect">
            <a:avLst>
              <a:gd name="adj" fmla="val 3750"/>
            </a:avLst>
          </a:prstGeom>
          <a:solidFill>
            <a:srgbClr val="FFF4E2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955280" y="2606040"/>
            <a:ext cx="548640" cy="548640"/>
          </a:xfrm>
          <a:prstGeom prst="ellipse">
            <a:avLst/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926" y="2748686"/>
            <a:ext cx="263347" cy="263347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641080" y="2651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收尾統整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8001000" y="333756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歷史 ↔ 我：你和他有什麼不同？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把方法帶走：用在生活情境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連結現實：理解≠認同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一句話：負責任的決定是……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不只社會科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一套工具，多處都能用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392424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79092" y="2468880"/>
            <a:ext cx="914400" cy="91440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6836" y="270662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社會科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歷史人物的抉擇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457200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25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秦始皇、蔣渭水、莫那魯道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398264" y="2103120"/>
            <a:ext cx="3392424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637276" y="2468880"/>
            <a:ext cx="914400" cy="914400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270662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98264" y="361188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國語繪本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398264" y="411480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故事角色的選擇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26864" y="457200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FA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灰姑娘要不要去舞會？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8156448" y="2103120"/>
            <a:ext cx="3392424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395460" y="2468880"/>
            <a:ext cx="914400" cy="914400"/>
          </a:xfrm>
          <a:prstGeom prst="ellipse">
            <a:avLst/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3204" y="2706624"/>
            <a:ext cx="438912" cy="4389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3611880"/>
            <a:ext cx="3392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A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班級經營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156448" y="411480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70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真實的人際衝突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385048" y="4572000"/>
            <a:ext cx="2935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E8C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群組裡的孤立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A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194560"/>
            <a:ext cx="5486400" cy="5486400"/>
          </a:xfrm>
          <a:prstGeom prst="ellipse">
            <a:avLst/>
          </a:prstGeom>
          <a:solidFill>
            <a:srgbClr val="E25B43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023360"/>
            <a:ext cx="5486400" cy="5486400"/>
          </a:xfrm>
          <a:prstGeom prst="ellipse">
            <a:avLst/>
          </a:prstGeom>
          <a:solidFill>
            <a:srgbClr val="5FA463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F0A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帶得走的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帶走的，是一套思考的方法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92424" cy="1234440"/>
          </a:xfrm>
          <a:prstGeom prst="roundRect">
            <a:avLst>
              <a:gd name="adj" fmla="val 8889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542032"/>
            <a:ext cx="777240" cy="777240"/>
          </a:xfrm>
          <a:prstGeom prst="ellipse">
            <a:avLst/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6482" y="2744114"/>
            <a:ext cx="373075" cy="3730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28800" y="2331720"/>
            <a:ext cx="20665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多案例思考鷹架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4398264" y="2331720"/>
            <a:ext cx="3392424" cy="1234440"/>
          </a:xfrm>
          <a:prstGeom prst="roundRect">
            <a:avLst>
              <a:gd name="adj" fmla="val 8889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72584" y="2542032"/>
            <a:ext cx="777240" cy="777240"/>
          </a:xfrm>
          <a:prstGeom prst="ellipse">
            <a:avLst/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4666" y="2744114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86984" y="2331720"/>
            <a:ext cx="20665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骰子抉擇遊戲</a:t>
            </a:r>
            <a:endParaRPr lang="en-US" sz="1650" dirty="0"/>
          </a:p>
        </p:txBody>
      </p:sp>
      <p:sp>
        <p:nvSpPr>
          <p:cNvPr id="14" name="Shape 10"/>
          <p:cNvSpPr/>
          <p:nvPr/>
        </p:nvSpPr>
        <p:spPr>
          <a:xfrm>
            <a:off x="8156448" y="2331720"/>
            <a:ext cx="3392424" cy="1234440"/>
          </a:xfrm>
          <a:prstGeom prst="roundRect">
            <a:avLst>
              <a:gd name="adj" fmla="val 8889"/>
            </a:avLst>
          </a:prstGeom>
          <a:solidFill>
            <a:srgbClr val="4A3729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30768" y="2542032"/>
            <a:ext cx="777240" cy="777240"/>
          </a:xfrm>
          <a:prstGeom prst="ellipse">
            <a:avLst/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2850" y="2744114"/>
            <a:ext cx="373075" cy="37307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345168" y="2331720"/>
            <a:ext cx="20665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教師引導提問單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640080" y="3931920"/>
            <a:ext cx="10908792" cy="1051560"/>
          </a:xfrm>
          <a:prstGeom prst="roundRect">
            <a:avLst>
              <a:gd name="adj" fmla="val 12174"/>
            </a:avLst>
          </a:prstGeom>
          <a:solidFill>
            <a:srgbClr val="E25B43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914400" y="3931920"/>
            <a:ext cx="103601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負責任的決定，不是保證好結果——而是想清楚之後，願意為自己的選擇負責。</a:t>
            </a:r>
            <a:endParaRPr lang="en-US" sz="1900" dirty="0"/>
          </a:p>
        </p:txBody>
      </p:sp>
      <p:sp>
        <p:nvSpPr>
          <p:cNvPr id="20" name="Shape 15"/>
          <p:cNvSpPr/>
          <p:nvPr/>
        </p:nvSpPr>
        <p:spPr>
          <a:xfrm>
            <a:off x="335584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25B4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3355848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500" dirty="0"/>
          </a:p>
        </p:txBody>
      </p:sp>
      <p:sp>
        <p:nvSpPr>
          <p:cNvPr id="22" name="Shape 17"/>
          <p:cNvSpPr/>
          <p:nvPr/>
        </p:nvSpPr>
        <p:spPr>
          <a:xfrm>
            <a:off x="4059936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0A03B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4059936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500" dirty="0"/>
          </a:p>
        </p:txBody>
      </p:sp>
      <p:sp>
        <p:nvSpPr>
          <p:cNvPr id="24" name="Shape 19"/>
          <p:cNvSpPr/>
          <p:nvPr/>
        </p:nvSpPr>
        <p:spPr>
          <a:xfrm>
            <a:off x="476402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D9A82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4764024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2500" dirty="0"/>
          </a:p>
        </p:txBody>
      </p:sp>
      <p:sp>
        <p:nvSpPr>
          <p:cNvPr id="26" name="Shape 21"/>
          <p:cNvSpPr/>
          <p:nvPr/>
        </p:nvSpPr>
        <p:spPr>
          <a:xfrm>
            <a:off x="5468112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5FA463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5468112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500" dirty="0"/>
          </a:p>
        </p:txBody>
      </p:sp>
      <p:sp>
        <p:nvSpPr>
          <p:cNvPr id="28" name="Shape 23"/>
          <p:cNvSpPr/>
          <p:nvPr/>
        </p:nvSpPr>
        <p:spPr>
          <a:xfrm>
            <a:off x="617220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F9E8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617220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2500" dirty="0"/>
          </a:p>
        </p:txBody>
      </p:sp>
      <p:sp>
        <p:nvSpPr>
          <p:cNvPr id="30" name="Shape 25"/>
          <p:cNvSpPr/>
          <p:nvPr/>
        </p:nvSpPr>
        <p:spPr>
          <a:xfrm>
            <a:off x="687628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E8CB5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1" name="Text 26"/>
          <p:cNvSpPr/>
          <p:nvPr/>
        </p:nvSpPr>
        <p:spPr>
          <a:xfrm>
            <a:off x="6876288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500" dirty="0"/>
          </a:p>
        </p:txBody>
      </p:sp>
      <p:sp>
        <p:nvSpPr>
          <p:cNvPr id="32" name="Shape 27"/>
          <p:cNvSpPr/>
          <p:nvPr/>
        </p:nvSpPr>
        <p:spPr>
          <a:xfrm>
            <a:off x="7580376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356E9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3" name="Text 28"/>
          <p:cNvSpPr/>
          <p:nvPr/>
        </p:nvSpPr>
        <p:spPr>
          <a:xfrm>
            <a:off x="7580376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500" dirty="0"/>
          </a:p>
        </p:txBody>
      </p:sp>
      <p:sp>
        <p:nvSpPr>
          <p:cNvPr id="34" name="Shape 29"/>
          <p:cNvSpPr/>
          <p:nvPr/>
        </p:nvSpPr>
        <p:spPr>
          <a:xfrm>
            <a:off x="828446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C9743E"/>
          </a:solidFill>
          <a:ln/>
          <a:effectLst>
            <a:outerShdw sx="100000" sy="100000" kx="0" ky="0" algn="bl" rotWithShape="0" blurRad="63500" dist="25400" dir="5400000">
              <a:srgbClr val="000000">
                <a:alpha val="16000"/>
              </a:srgbClr>
            </a:outerShdw>
          </a:effectLst>
        </p:spPr>
      </p:sp>
      <p:sp>
        <p:nvSpPr>
          <p:cNvPr id="35" name="Text 30"/>
          <p:cNvSpPr/>
          <p:nvPr/>
        </p:nvSpPr>
        <p:spPr>
          <a:xfrm>
            <a:off x="8284464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2500" dirty="0"/>
          </a:p>
        </p:txBody>
      </p:sp>
      <p:sp>
        <p:nvSpPr>
          <p:cNvPr id="36" name="Text 31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C3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謝謝聆聽　·　歡迎提問與交流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FIG-TESPN 融入社會科教學包</dc:title>
  <dc:subject>PptxGenJS Presentation</dc:subject>
  <dc:creator>新北市課程輔導團・社會領域</dc:creator>
  <cp:lastModifiedBy>新北市課程輔導團・社會領域</cp:lastModifiedBy>
  <cp:revision>1</cp:revision>
  <dcterms:created xsi:type="dcterms:W3CDTF">2026-06-24T07:33:15Z</dcterms:created>
  <dcterms:modified xsi:type="dcterms:W3CDTF">2026-06-24T07:33:15Z</dcterms:modified>
</cp:coreProperties>
</file>