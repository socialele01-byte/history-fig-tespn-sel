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開場：用一句教室裡的真實感受切入——我們都教過228、霧社事件，但學生真的『感受』到了嗎？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核心轉折：別把SEL當成額外負擔，它就是中心德目，可以融進社會課。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這是全場最重要的一頁。停頓一下，讓老師們體會：骰子＝人生的不可控；我們教孩子的是『想清楚的過程』。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5486400" cy="5486400"/>
          </a:xfrm>
          <a:prstGeom prst="ellipse">
            <a:avLst/>
          </a:prstGeom>
          <a:solidFill>
            <a:srgbClr val="E25B4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5029200" cy="5029200"/>
          </a:xfrm>
          <a:prstGeom prst="ellipse">
            <a:avLst/>
          </a:prstGeom>
          <a:solidFill>
            <a:srgbClr val="F0A0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 × 社會科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站在抉擇的那一刻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4B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把社會情緒學習，玩進一堂社會課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FIG-TESPN 融入社會科教學包　｜　多案例鷹架 · 骰子抉擇遊戲 · 教師提問單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2245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新北市課程輔導團・社會領域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059936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59936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764024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4024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468112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6172200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876288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7580376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0376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8284464" y="55778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84464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為什麼要這樣做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一個社會老師都熟悉的兩難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2238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3911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高年級歷史分量重，進度壓力大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2753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09067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228、霧社事件「教過了，卻沒被真正感受」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32694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41422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社會情緒學習常被當成「額外一門課」，最後失敗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818120" y="2011680"/>
            <a:ext cx="3749040" cy="3154680"/>
          </a:xfrm>
          <a:prstGeom prst="roundRect">
            <a:avLst>
              <a:gd name="adj" fmla="val 3478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0924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一學期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955280" y="2697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25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</a:t>
            </a:r>
            <a:endParaRPr lang="en-US" sz="9000" dirty="0"/>
          </a:p>
        </p:txBody>
      </p:sp>
      <p:sp>
        <p:nvSpPr>
          <p:cNvPr id="16" name="Text 11"/>
          <p:cNvSpPr/>
          <p:nvPr/>
        </p:nvSpPr>
        <p:spPr>
          <a:xfrm>
            <a:off x="795528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01000" y="4297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真正能讓學生「深入探究」的機會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0A03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05840"/>
            <a:ext cx="777240" cy="7772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20792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換個做法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與其多開一門課，不如融進這堂課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E4B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社會情緒學習的核心主張：它不該是單獨的一門課，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E4B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而要融入日常的學科教學裡。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其實，SEL 五面向就是我們熟悉的「中心德目」：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3246120" cy="777240"/>
          </a:xfrm>
          <a:prstGeom prst="roundRect">
            <a:avLst>
              <a:gd name="adj" fmla="val 49412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4526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毅力 → 自我管理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60520" y="4526280"/>
            <a:ext cx="3246120" cy="777240"/>
          </a:xfrm>
          <a:prstGeom prst="roundRect">
            <a:avLst>
              <a:gd name="adj" fmla="val 49412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60520" y="4526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互助 → 人際關係技巧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80960" y="4526280"/>
            <a:ext cx="3246120" cy="777240"/>
          </a:xfrm>
          <a:prstGeom prst="roundRect">
            <a:avLst>
              <a:gd name="adj" fmla="val 49412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4526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 → 負責任的決定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一套可以帶走的思考工具：FIG-TESPN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｜ 覺察與定向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TESPN ｜ 歷程與行動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688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8895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覺察感受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24688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6052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60520" y="28895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看清處境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4688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28895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確認想要什麼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46304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63040" y="4718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想出多種選擇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38628" y="41148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03220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32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561588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後果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561588" y="4718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預想每個結果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37176" y="41148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01768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60136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660136" y="4718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做出決定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35724" y="41148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00316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00316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758684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758684" y="4718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規劃並行動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034272" y="411480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98864" y="4297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98864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857232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857232" y="471830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回看結果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它在練什麼能力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每一步，都在練一種 SEL 能力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12264"/>
            <a:ext cx="493776" cy="493776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30" y="2240646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842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自我覺察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206240" y="198424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0" y="1984248"/>
            <a:ext cx="45994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情緒覺察 · 我與他的對照反思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026664"/>
            <a:ext cx="493776" cy="493776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30" y="3155046"/>
            <a:ext cx="237012" cy="237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986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社會覺察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206240" y="289864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Awareness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766560" y="2898648"/>
            <a:ext cx="45994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看清處境 · G 目標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3941064"/>
            <a:ext cx="493776" cy="493776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4069446"/>
            <a:ext cx="237012" cy="2370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8130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自我管理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206240" y="381304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Self-Management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766560" y="3813048"/>
            <a:ext cx="45994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訂目標 · P 計畫行動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40080" y="470916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1248" y="4855464"/>
            <a:ext cx="493776" cy="493776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30" y="4983846"/>
            <a:ext cx="237012" cy="2370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7274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人際關係技巧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4206240" y="472744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Skills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766560" y="4727448"/>
            <a:ext cx="45994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全程的分組討論與分享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640080" y="562356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1248" y="5769864"/>
            <a:ext cx="493776" cy="493776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5898246"/>
            <a:ext cx="237012" cy="2370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564184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4206240" y="564184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Decision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6766560" y="5641848"/>
            <a:ext cx="45994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方法 · E 後果 · S 選擇 · N 檢視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課堂節奏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一節課怎麼跑（40 分鐘）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98480" y="640080"/>
            <a:ext cx="822960" cy="822960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450" y="85405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65098" y="2468880"/>
            <a:ext cx="658368" cy="658368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6509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情境導入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影片帶入歷史現場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5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8015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05176" y="2468880"/>
            <a:ext cx="658368" cy="658368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0517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71598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個人初思 · FIG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58988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讀懂感受 / 問題 / 目標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571598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20235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5253" y="2468880"/>
            <a:ext cx="658368" cy="658368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5253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411675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分組探究 · TES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429963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想選擇 → 預想後果 → 抉擇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411675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12′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60313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85331" y="2468880"/>
            <a:ext cx="658368" cy="658368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685331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51753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全班分享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270041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各組報告抉擇與理由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51753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C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00039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25408" y="2468880"/>
            <a:ext cx="658368" cy="658368"/>
          </a:xfrm>
          <a:prstGeom prst="ellipse">
            <a:avLst/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52540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091830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對照反思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811011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「歷史 ↔ 我」的負責任決定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091830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84046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365486" y="2468880"/>
            <a:ext cx="658368" cy="658368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1036548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9931908" y="3273552"/>
            <a:ext cx="1525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統整收尾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995019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連結現實議題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931908" y="4526280"/>
            <a:ext cx="1525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566928"/>
            <a:ext cx="868680" cy="86868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2897" y="792785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一張鷹架，走遍每一個歷史抉擇。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學生先讀懂歷史人物的情緒、問題與目標，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再對照自己：「如果是我，我會怎麼做？」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可列印發給學生，也能投影共讀共寫。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92024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87568" y="2194560"/>
            <a:ext cx="502920" cy="50292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327" y="23253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2176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莫那魯道 · 霧社事件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27648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· 1930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778240" y="192024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79408" y="2194560"/>
            <a:ext cx="502920" cy="502920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67" y="23253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19488" y="21762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秦始皇 · 焚書坑儒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619488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 · 秦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361188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87568" y="3886200"/>
            <a:ext cx="502920" cy="502920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327" y="401695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27648" y="38679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蔣渭水 · 非武裝抗日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27648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· 1920s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778240" y="361188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979408" y="3886200"/>
            <a:ext cx="502920" cy="502920"/>
          </a:xfrm>
          <a:prstGeom prst="ellipse">
            <a:avLst/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167" y="401695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19488" y="38679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日治時期的台灣人警察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619488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· 日治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骰子抉擇遊戲：選一條路，擲出後果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566928"/>
            <a:ext cx="868680" cy="86868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2897" y="792785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讓學生親身體驗——做決定時，有些情勢是你無法完全掌控的。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56816" y="2761488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56816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忍耐配合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0080" y="4224528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重視眼前的安全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4688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05856" y="2761488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05856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4389120" y="37490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和平陳情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389120" y="4224528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重視不流血的改變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38160" y="24688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454896" y="2761488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454896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0" y="37490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武裝起義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38160" y="4224528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重視族人的尊嚴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7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擲出的「情勢之骰」＝其他社是否響應、消息是否走漏、日方如何反應……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課堂示範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示範：用 FIG-TESPN 走進霧社事件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1226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屈辱、憤怒，與對族人未來的憂慮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47104" y="211226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269480" y="19659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族人長期被壓迫，尊嚴受損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320954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3209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508760" y="306324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守護族人的尊嚴、文化與生存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306324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7104" y="320954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47104" y="3209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269480" y="306324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忍耐 / 和平陳情 / 武裝起義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3068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1508760" y="41605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每條路，都有不同的代價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160520"/>
            <a:ext cx="53949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47104" y="43068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47104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269480" y="41605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他選擇了：武裝起義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1155680" cy="841248"/>
          </a:xfrm>
          <a:prstGeom prst="roundRect">
            <a:avLst>
              <a:gd name="adj" fmla="val 13043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540410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" y="5404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508760" y="525780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遭強力鎮壓，卻成為反抗的象徵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377440"/>
            <a:ext cx="5486400" cy="5486400"/>
          </a:xfrm>
          <a:prstGeom prst="ellipse">
            <a:avLst/>
          </a:prstGeom>
          <a:solidFill>
            <a:srgbClr val="3E8CB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914400" cy="91440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最關鍵的一刻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結果無法完全掌控——那我們能掌握什麼？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我們能掌握的，是「把每個選擇的後果想清楚、確認自己的目標與價值」。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11852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52628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負責任的決定，看的是「思考的過程」，不是「運氣的好壞」。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566928"/>
            <a:ext cx="868680" cy="86868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2897" y="792785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必問　　</a:t>
            </a:r>
            <a:pPr indent="0" marL="0">
              <a:buNone/>
            </a:pPr>
            <a:r>
              <a:rPr lang="en-US" sz="1500" b="1" dirty="0">
                <a:solidFill>
                  <a:srgbClr val="3E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5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彈性追問　—　每條路都有專屬追問，收尾統整一次到位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6766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96896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0A03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9689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忍耐配合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88920" y="23774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「沒有衝突，就等於問題解決了嗎？」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346704"/>
            <a:ext cx="6766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56616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3E8CB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5661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和平陳情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788920" y="334670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「為什麼和平這條路，常常沒有用？」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315968"/>
            <a:ext cx="6766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535424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E25B43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53542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武裝起義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788920" y="431596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「明知會失敗，為什麼還是選擇反抗？」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726680" y="237744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55280" y="2606040"/>
            <a:ext cx="548640" cy="548640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926" y="274868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410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收尾統整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001000" y="33375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 ↔ 我：你和他有什麼不同？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把方法帶走：用在生活情境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連結現實：理解≠認同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一句話：負責任的決定是……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不只社會科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一套工具，多處都能用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9092" y="2468880"/>
            <a:ext cx="914400" cy="91440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社會科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歷史人物的抉擇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秦始皇、蔣渭水、莫那魯道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468880"/>
            <a:ext cx="914400" cy="91440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706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國語繪本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398264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故事角色的選擇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26864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灰姑娘要不要去舞會？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56448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95460" y="2468880"/>
            <a:ext cx="914400" cy="914400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班級經營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156448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真實的人際衝突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群組裡的孤立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5486400" cy="5486400"/>
          </a:xfrm>
          <a:prstGeom prst="ellipse">
            <a:avLst/>
          </a:prstGeom>
          <a:solidFill>
            <a:srgbClr val="5FA46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帶得走的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帶走的，是一套思考的方法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542032"/>
            <a:ext cx="777240" cy="7772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744114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98264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542032"/>
            <a:ext cx="777240" cy="7772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66" y="2744114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86984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156448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542032"/>
            <a:ext cx="777240" cy="77724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7441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10908792" cy="1051560"/>
          </a:xfrm>
          <a:prstGeom prst="roundRect">
            <a:avLst>
              <a:gd name="adj" fmla="val 12174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14400" y="393192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負責任的決定，不是保證好結果——而是想清楚之後，願意為自己的選擇負責。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335584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35584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22" name="Shape 17"/>
          <p:cNvSpPr/>
          <p:nvPr/>
        </p:nvSpPr>
        <p:spPr>
          <a:xfrm>
            <a:off x="405993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05993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24" name="Shape 19"/>
          <p:cNvSpPr/>
          <p:nvPr/>
        </p:nvSpPr>
        <p:spPr>
          <a:xfrm>
            <a:off x="476402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76402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26" name="Shape 21"/>
          <p:cNvSpPr/>
          <p:nvPr/>
        </p:nvSpPr>
        <p:spPr>
          <a:xfrm>
            <a:off x="5468112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68112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28" name="Shape 23"/>
          <p:cNvSpPr/>
          <p:nvPr/>
        </p:nvSpPr>
        <p:spPr>
          <a:xfrm>
            <a:off x="617220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17220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30" name="Shape 25"/>
          <p:cNvSpPr/>
          <p:nvPr/>
        </p:nvSpPr>
        <p:spPr>
          <a:xfrm>
            <a:off x="687628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87628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32" name="Shape 27"/>
          <p:cNvSpPr/>
          <p:nvPr/>
        </p:nvSpPr>
        <p:spPr>
          <a:xfrm>
            <a:off x="758037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58037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34" name="Shape 29"/>
          <p:cNvSpPr/>
          <p:nvPr/>
        </p:nvSpPr>
        <p:spPr>
          <a:xfrm>
            <a:off x="828446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828446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36" name="Text 3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　·　歡迎提問與交流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FIG-TESPN 融入社會科教學包</dc:title>
  <dc:subject>PptxGenJS Presentation</dc:subject>
  <dc:creator>新北市課程輔導團・社會領域</dc:creator>
  <cp:lastModifiedBy>新北市課程輔導團・社會領域</cp:lastModifiedBy>
  <cp:revision>1</cp:revision>
  <dcterms:created xsi:type="dcterms:W3CDTF">2026-06-24T07:33:15Z</dcterms:created>
  <dcterms:modified xsi:type="dcterms:W3CDTF">2026-06-24T07:33:15Z</dcterms:modified>
</cp:coreProperties>
</file>